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358" r:id="rId3"/>
    <p:sldId id="332" r:id="rId4"/>
    <p:sldId id="343" r:id="rId5"/>
    <p:sldId id="344" r:id="rId6"/>
    <p:sldId id="346" r:id="rId7"/>
    <p:sldId id="347" r:id="rId8"/>
    <p:sldId id="379" r:id="rId9"/>
    <p:sldId id="380" r:id="rId10"/>
    <p:sldId id="342" r:id="rId11"/>
    <p:sldId id="345" r:id="rId12"/>
    <p:sldId id="378" r:id="rId13"/>
    <p:sldId id="331" r:id="rId14"/>
    <p:sldId id="348" r:id="rId15"/>
    <p:sldId id="349" r:id="rId16"/>
    <p:sldId id="352" r:id="rId17"/>
    <p:sldId id="333" r:id="rId18"/>
    <p:sldId id="335" r:id="rId19"/>
    <p:sldId id="350" r:id="rId20"/>
    <p:sldId id="351" r:id="rId21"/>
    <p:sldId id="337" r:id="rId22"/>
    <p:sldId id="354" r:id="rId23"/>
    <p:sldId id="330" r:id="rId24"/>
    <p:sldId id="339" r:id="rId25"/>
    <p:sldId id="356" r:id="rId26"/>
    <p:sldId id="355" r:id="rId27"/>
    <p:sldId id="341" r:id="rId28"/>
    <p:sldId id="294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72" r:id="rId37"/>
    <p:sldId id="373" r:id="rId38"/>
    <p:sldId id="374" r:id="rId39"/>
    <p:sldId id="366" r:id="rId40"/>
    <p:sldId id="368" r:id="rId41"/>
    <p:sldId id="375" r:id="rId42"/>
    <p:sldId id="369" r:id="rId43"/>
    <p:sldId id="370" r:id="rId44"/>
    <p:sldId id="376" r:id="rId45"/>
    <p:sldId id="377" r:id="rId46"/>
    <p:sldId id="260" r:id="rId47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83"/>
    <p:restoredTop sz="96327"/>
  </p:normalViewPr>
  <p:slideViewPr>
    <p:cSldViewPr snapToGrid="0">
      <p:cViewPr varScale="1">
        <p:scale>
          <a:sx n="144" d="100"/>
          <a:sy n="144" d="100"/>
        </p:scale>
        <p:origin x="2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75D53-7BE6-3840-BAC4-9511ECE8F737}" type="datetimeFigureOut">
              <a:rPr lang="en-KR" smtClean="0"/>
              <a:t>2025/04/03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62F-8CED-8846-8A1B-E4617A2BA71C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60229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AB7E-727D-6238-7318-8E92BC9D7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7922F-1BDD-A068-7288-815478433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90311-1856-00CA-259E-5252794AA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3AB8-4B8C-EE40-BC6D-E1FFD74B3F04}" type="datetime1">
              <a:rPr lang="en-US" smtClean="0"/>
              <a:t>4/3/25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94868-1CD9-9C53-37F3-FF3D03A03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9C615-C26B-6AB1-0FD3-06EEFB87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3987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7083-6081-9E87-7648-C84ACBE5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9C112-B623-FF8F-259B-90C19254A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317D6-6943-7A51-3718-D59FEEF07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4337-7662-EC40-9618-E6D4724F6AC9}" type="datetime1">
              <a:rPr lang="en-US" smtClean="0"/>
              <a:t>4/3/25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47E37-5CBA-D6BE-1EF9-64F112492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B4E57-14D6-4E90-5362-31A7C95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48698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EFF81-F725-B977-0F5E-E6FFEAA19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F206E-C325-0BE1-AF8C-F799FEFA0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67A50-B5E4-BA97-90C2-EB6D2EED3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1D44F-2320-B848-BC34-83A2DFA01A52}" type="datetime1">
              <a:rPr lang="en-US" smtClean="0"/>
              <a:t>4/3/25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C3725-3534-3C79-33A1-FACFE2ED7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AD373-543E-3156-D7BF-27DB89A1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676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40383-4DCA-7D80-14C3-B4AD65DEE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333EC-77A9-07A8-7225-5754FCE73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C3EC1-6591-E1FF-4BFE-CD4705D46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A43DB-6BD3-52E8-2624-D9E52711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54538-F660-2948-A46D-1A9B46366424}" type="datetime1">
              <a:rPr lang="en-US" smtClean="0"/>
              <a:t>4/3/25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94B25-D613-A88E-501B-34338ADC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33E18-4649-A6E4-DA05-580137040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57467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2523-B308-801C-BA2D-BD04E23F0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706FA-04A6-0C39-009F-41AC7A54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14A8D-E681-0480-1CD2-F66DAB9F4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542CF-0D97-AF66-3799-F96768318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D16B28-6B57-9017-4312-7D9977093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A2B36F-2679-CDFB-6DDC-62CAD17B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F3F1-3419-F946-A184-C1C086124A11}" type="datetime1">
              <a:rPr lang="en-US" smtClean="0"/>
              <a:t>4/3/25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6D3449-61AD-C409-AC6C-A9BD016D5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529A2-1B48-99E8-F7AD-862FA947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3882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BD737-FFFD-3BCE-1BC9-A90F13A86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2D99B1-77FD-FF74-8476-7DB22120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0CAD-2502-F84F-9246-D1D1DCC90ECE}" type="datetime1">
              <a:rPr lang="en-US" smtClean="0"/>
              <a:t>4/3/25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D350D-62A0-6DC2-8F02-EED9A53D0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B17E0-304D-16CA-41C9-2F52BBBAD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6986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217F1-BF77-C21D-029F-34571605D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23F18-501B-FA46-9D20-1C84A4272083}" type="datetime1">
              <a:rPr lang="en-US" smtClean="0"/>
              <a:t>4/3/25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5636B-4407-F155-8C41-B804F0A1A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9B683-7FD5-1281-8F66-65095CEF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81687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CC90-61EA-C187-E5B8-AE6A2492F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A5D98-0BE1-C969-FBDE-46E735935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B47BA-11B7-7EDE-29C5-62615AC45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F6E60-B149-B54D-B0B8-4E3BF49D1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C448-B54F-FD46-B35A-D815A2AB343C}" type="datetime1">
              <a:rPr lang="en-US" smtClean="0"/>
              <a:t>4/3/25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719CE-A09E-8316-51C7-3D59A5EF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BD30A-6705-1693-F4AB-ACEFD2CAC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6581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7166E-2F0C-06E1-5DE9-C7175BCE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B067D-E6D5-B892-F539-945D9AF218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88419-FCCC-63D7-ABFA-40FD41D32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65450-221F-ABCF-A9E1-F06E9CBB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AA31-30FF-B641-9FC0-2A3CDE7FF2E6}" type="datetime1">
              <a:rPr lang="en-US" smtClean="0"/>
              <a:t>4/3/25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27DB2-094F-CEC1-9D29-29B47142C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5A13D-2185-C8AE-4F52-C4A9D9F02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05607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43CCD-5571-AE97-81F5-7AA65C2CD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A5C2E-8FC1-4128-F5CF-874700E34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54FFD-99B3-5E41-8094-CA5CD774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72F7F-6D28-F94F-9E41-A0080CCE1B71}" type="datetime1">
              <a:rPr lang="en-US" smtClean="0"/>
              <a:t>4/3/25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EA23C-A580-6139-744E-C465BCEC7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FA222-E091-8B1A-1BFA-A4E21559F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2089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1041B6-DF40-3CAD-A696-A58B4C19BA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DB888B-5E3B-A6CC-E21E-C56608729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D4959-B4C9-8721-4E7C-8C4F3BED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61902-8198-2440-9B39-7C98719266D6}" type="datetime1">
              <a:rPr lang="en-US" smtClean="0"/>
              <a:t>4/3/25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C57B9-1B84-DA8F-EB7C-85C69B8A9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E6112-3CE0-6E52-4818-A4D5D41DA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7774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71673-F7CA-1B9F-08DF-322ADF0B2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5E4DF-A743-F4CE-7DF6-2CBD92168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5C9B3-0B7D-1AFC-07D1-F6927320E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B4D065-7841-9B48-9FFF-B9E7376C0218}" type="datetime1">
              <a:rPr lang="en-US" smtClean="0"/>
              <a:t>4/3/25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63FCF-B36E-117B-A2AB-1D95D9109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CD863-FBFD-4E8E-2CFA-9117E79CF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298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EC747-07F2-F14C-9644-ADAAFDE9D26F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5FF0BA4-56CB-2D30-8491-D35F8597A0C9}"/>
              </a:ext>
            </a:extLst>
          </p:cNvPr>
          <p:cNvSpPr txBox="1">
            <a:spLocks/>
          </p:cNvSpPr>
          <p:nvPr userDrawn="1"/>
        </p:nvSpPr>
        <p:spPr>
          <a:xfrm>
            <a:off x="10800784" y="6355658"/>
            <a:ext cx="5530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KR"/>
            </a:defPPr>
            <a:lvl1pPr marL="0" algn="r" defTabSz="914400" rtl="0" eaLnBrk="1" latinLnBrk="0" hangingPunct="1">
              <a:defRPr sz="1400" b="1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42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49853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r.leesh90@gmail.com" TargetMode="External"/><Relationship Id="rId2" Type="http://schemas.openxmlformats.org/officeDocument/2006/relationships/hyperlink" Target="https://leesh90.github.io/about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cosmos.smu.ac.kr/" TargetMode="External"/><Relationship Id="rId5" Type="http://schemas.openxmlformats.org/officeDocument/2006/relationships/hyperlink" Target="mailto:hyunchulk@gmail.com" TargetMode="External"/><Relationship Id="rId4" Type="http://schemas.openxmlformats.org/officeDocument/2006/relationships/hyperlink" Target="http://cosmos.smu.ac.kr/~hkim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naver.com/robots.tx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hollys.co.kr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requests.readthedocs.io/en/latest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beautiful-soup-4.readthedocs.io/en/latest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www.selenium.dev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www.instagram.com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023CC-0236-258E-8B66-165ED929DF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데이터과학개론</a:t>
            </a:r>
            <a:r>
              <a:rPr lang="en-US" altLang="ko-KR" dirty="0"/>
              <a:t> 5</a:t>
            </a:r>
            <a:r>
              <a:rPr lang="ko-KR" altLang="en-US" dirty="0"/>
              <a:t>주차</a:t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/>
              <a:t> 데이터 수집 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81749-1835-814B-5398-3C4950BCA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993692"/>
          </a:xfrm>
        </p:spPr>
        <p:txBody>
          <a:bodyPr>
            <a:normAutofit/>
          </a:bodyPr>
          <a:lstStyle/>
          <a:p>
            <a:r>
              <a:rPr lang="en-KR" dirty="0"/>
              <a:t>202</a:t>
            </a:r>
            <a:r>
              <a:rPr lang="en-US" altLang="ko-KR" dirty="0"/>
              <a:t>5</a:t>
            </a:r>
            <a:r>
              <a:rPr lang="en-KR" dirty="0"/>
              <a:t>. 0</a:t>
            </a:r>
            <a:r>
              <a:rPr lang="en-US" altLang="ko-KR" dirty="0"/>
              <a:t>4</a:t>
            </a:r>
            <a:r>
              <a:rPr lang="en-KR" dirty="0"/>
              <a:t>. </a:t>
            </a:r>
            <a:r>
              <a:rPr lang="en-US" altLang="ko-KR" dirty="0"/>
              <a:t>03</a:t>
            </a:r>
            <a:r>
              <a:rPr lang="en-KR" dirty="0"/>
              <a:t>(</a:t>
            </a:r>
            <a:r>
              <a:rPr lang="ko-KR" altLang="en-US" dirty="0"/>
              <a:t>목</a:t>
            </a:r>
            <a:r>
              <a:rPr lang="en-US" altLang="ko-KR" dirty="0"/>
              <a:t>)</a:t>
            </a:r>
            <a:endParaRPr lang="en-KR" dirty="0"/>
          </a:p>
          <a:p>
            <a:r>
              <a:rPr lang="en-KR" dirty="0"/>
              <a:t>TA : </a:t>
            </a:r>
            <a:r>
              <a:rPr lang="en-KR" dirty="0">
                <a:hlinkClick r:id="rId2"/>
              </a:rPr>
              <a:t>Seunghun Lee</a:t>
            </a:r>
            <a:r>
              <a:rPr lang="en-KR" dirty="0"/>
              <a:t> (</a:t>
            </a:r>
            <a:r>
              <a:rPr lang="en-KR" dirty="0">
                <a:hlinkClick r:id="rId3"/>
              </a:rPr>
              <a:t>mr.leesh90@gmail.com</a:t>
            </a:r>
            <a:r>
              <a:rPr lang="en-KR" dirty="0"/>
              <a:t>)</a:t>
            </a:r>
          </a:p>
          <a:p>
            <a:r>
              <a:rPr lang="en-KR" dirty="0"/>
              <a:t>Professor : </a:t>
            </a:r>
            <a:r>
              <a:rPr lang="en-KR" dirty="0">
                <a:hlinkClick r:id="rId4"/>
              </a:rPr>
              <a:t>Hyun-chul Kim</a:t>
            </a:r>
            <a:r>
              <a:rPr lang="en-KR" dirty="0"/>
              <a:t> (</a:t>
            </a:r>
            <a:r>
              <a:rPr lang="en-KR" dirty="0">
                <a:hlinkClick r:id="rId5"/>
              </a:rPr>
              <a:t>hyunchulk@gmail.com</a:t>
            </a:r>
            <a:r>
              <a:rPr lang="en-KR" dirty="0"/>
              <a:t>)</a:t>
            </a:r>
          </a:p>
          <a:p>
            <a:r>
              <a:rPr lang="ko-KR" altLang="en-US" dirty="0"/>
              <a:t>연구실 홈페이지 </a:t>
            </a:r>
            <a:r>
              <a:rPr lang="en-US" altLang="ko-KR" dirty="0"/>
              <a:t>: </a:t>
            </a:r>
            <a:r>
              <a:rPr lang="en-US" altLang="ko-KR" dirty="0">
                <a:hlinkClick r:id="rId6"/>
              </a:rPr>
              <a:t>http://cosmos.smu.ac.kr/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ABFF9-A4ED-1793-43BD-6D3C8A13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0888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1092C-8A6A-BF4E-1BD6-7E00364B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11AF6-3BE5-B4F3-3FF5-DD9A30EBF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데이터 수집 전 확인 및 주의사항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정적 </a:t>
            </a:r>
            <a:r>
              <a:rPr lang="ko-KR" altLang="en-US" dirty="0" err="1"/>
              <a:t>크롤링</a:t>
            </a:r>
            <a:endParaRPr lang="en-US" altLang="ko-KR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/>
              <a:t>Hollys </a:t>
            </a:r>
            <a:r>
              <a:rPr lang="ko-KR" altLang="en-US" dirty="0"/>
              <a:t>매장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동적 </a:t>
            </a:r>
            <a:r>
              <a:rPr lang="ko-KR" altLang="en-US" dirty="0" err="1"/>
              <a:t>크롤링</a:t>
            </a:r>
            <a:endParaRPr lang="en-US" altLang="ko-KR" dirty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/>
              <a:t>인스타그램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DEB17-4958-A321-6247-880B10FF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61550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1671-17F9-5087-2A0B-1627062E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전 확인 및 주의사항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88EEB-53BC-5004-2B87-1E3315115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Robots.txt </a:t>
            </a:r>
            <a:r>
              <a:rPr lang="ko-KR" altLang="en-US" dirty="0"/>
              <a:t>파일 확인하기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사이트 이용 약관 확인 및 준수하기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저작권 및 개인정보 보호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크롤링하려는 웹사이트 서버에 부하 주지 않기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BA867-CA2C-2E43-12FF-CB457239A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3732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736CD-86AA-5813-851B-1D3753CA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Robots.txt </a:t>
            </a:r>
            <a:r>
              <a:rPr lang="ko-KR" altLang="en-US" dirty="0"/>
              <a:t>파일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FADB37-8B8B-5B02-7F5F-B89FB2CCE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웹 </a:t>
            </a:r>
            <a:r>
              <a:rPr lang="ko-KR" altLang="en-US" dirty="0" err="1"/>
              <a:t>크롤러가</a:t>
            </a:r>
            <a:r>
              <a:rPr lang="ko-KR" altLang="en-US" dirty="0"/>
              <a:t> 웹사이트를 방문할 때 따라야 하는 규칙을 정의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크롤러가</a:t>
            </a:r>
            <a:r>
              <a:rPr lang="ko-KR" altLang="en-US" dirty="0"/>
              <a:t> 웹사이트에서 접근 가능한 부분 </a:t>
            </a:r>
            <a:r>
              <a:rPr lang="en-US" altLang="ko-KR" dirty="0"/>
              <a:t>/ </a:t>
            </a:r>
            <a:r>
              <a:rPr lang="ko-KR" altLang="en-US" dirty="0"/>
              <a:t>접근 불가능한 부분을 명시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Robots.txt </a:t>
            </a:r>
            <a:r>
              <a:rPr lang="ko-KR" altLang="en-US" dirty="0"/>
              <a:t>파일 구성 요소</a:t>
            </a:r>
            <a:br>
              <a:rPr lang="en-US" altLang="ko-KR" dirty="0"/>
            </a:br>
            <a:r>
              <a:rPr lang="en-US" altLang="ko-KR" dirty="0"/>
              <a:t>1) User-agent : </a:t>
            </a:r>
            <a:r>
              <a:rPr lang="ko-KR" altLang="en-US" dirty="0" err="1"/>
              <a:t>크롤링</a:t>
            </a:r>
            <a:r>
              <a:rPr lang="ko-KR" altLang="en-US" dirty="0"/>
              <a:t> 규칙이 적용 되어야 할 </a:t>
            </a:r>
            <a:r>
              <a:rPr lang="ko-KR" altLang="en-US" dirty="0" err="1"/>
              <a:t>크롤러</a:t>
            </a:r>
            <a:r>
              <a:rPr lang="ko-KR" altLang="en-US" dirty="0"/>
              <a:t> 지정</a:t>
            </a:r>
            <a:br>
              <a:rPr lang="en-US" altLang="ko-KR" dirty="0"/>
            </a:br>
            <a:r>
              <a:rPr lang="en-US" altLang="ko-KR" dirty="0"/>
              <a:t>2) Disallow :</a:t>
            </a:r>
            <a:r>
              <a:rPr lang="ko-KR" altLang="en-US" dirty="0"/>
              <a:t> 접근 금지 </a:t>
            </a:r>
            <a:r>
              <a:rPr lang="en-US" altLang="ko-KR" dirty="0"/>
              <a:t>URL </a:t>
            </a:r>
            <a:r>
              <a:rPr lang="ko-KR" altLang="en-US" dirty="0"/>
              <a:t>경로</a:t>
            </a:r>
            <a:br>
              <a:rPr lang="en-US" altLang="ko-KR" dirty="0"/>
            </a:br>
            <a:r>
              <a:rPr lang="en-US" altLang="ko-KR" dirty="0"/>
              <a:t>3) Allow : </a:t>
            </a:r>
            <a:r>
              <a:rPr lang="ko-KR" altLang="en-US" dirty="0"/>
              <a:t>접근 가능한 </a:t>
            </a:r>
            <a:r>
              <a:rPr lang="en-US" altLang="ko-KR" dirty="0"/>
              <a:t>URL </a:t>
            </a:r>
            <a:r>
              <a:rPr lang="ko-KR" altLang="en-US" dirty="0"/>
              <a:t>경로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8A03C5-3A10-9664-4024-182C0239E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4108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580C3-C462-048F-2549-44CE5ED5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Robots.txt </a:t>
            </a:r>
            <a:r>
              <a:rPr lang="ko-KR" altLang="en-US" dirty="0"/>
              <a:t>파일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F568BD-5B39-0D76-5574-04DADE782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Robots.txt </a:t>
            </a:r>
            <a:r>
              <a:rPr lang="ko-KR" altLang="en-US" dirty="0"/>
              <a:t>파일 확인 방법</a:t>
            </a:r>
            <a:endParaRPr lang="en-US" altLang="ko-KR" dirty="0"/>
          </a:p>
          <a:p>
            <a:pPr lvl="1"/>
            <a:r>
              <a:rPr lang="ko-KR" altLang="en-US" dirty="0"/>
              <a:t>웹사이트 주소</a:t>
            </a:r>
            <a:r>
              <a:rPr lang="en-US" altLang="ko-KR" dirty="0"/>
              <a:t>(URL) </a:t>
            </a:r>
            <a:r>
              <a:rPr lang="ko-KR" altLang="en-US" dirty="0"/>
              <a:t>뒤에 </a:t>
            </a:r>
            <a:r>
              <a:rPr lang="en-US" altLang="ko-KR" dirty="0"/>
              <a:t>/robots.txt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대표적인 예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www.naver.com/robots.txt</a:t>
            </a:r>
            <a:endParaRPr lang="en-US" altLang="ko-KR" dirty="0"/>
          </a:p>
          <a:p>
            <a:pPr lvl="1"/>
            <a:r>
              <a:rPr lang="ko-KR" altLang="en-US" dirty="0"/>
              <a:t>모든 봇들에 대해서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모든 페이지들에 대해서 접근 거부</a:t>
            </a:r>
            <a:br>
              <a:rPr lang="en-US" altLang="ko-KR" dirty="0"/>
            </a:br>
            <a:r>
              <a:rPr lang="ko-KR" altLang="en-US" dirty="0"/>
              <a:t>루트 페이지만 접근 가능</a:t>
            </a:r>
            <a:br>
              <a:rPr lang="en-US" altLang="ko-KR" dirty="0"/>
            </a:b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4B2134-D9D2-4059-6053-454AA8C63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5</a:t>
            </a:fld>
            <a:endParaRPr lang="en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46C036-E976-EFBB-B122-0636D46CE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926" y="3898237"/>
            <a:ext cx="3990346" cy="208484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25F0A8A-8674-F7E7-D254-B71EED3A5E79}"/>
              </a:ext>
            </a:extLst>
          </p:cNvPr>
          <p:cNvSpPr/>
          <p:nvPr/>
        </p:nvSpPr>
        <p:spPr>
          <a:xfrm>
            <a:off x="117373" y="6560066"/>
            <a:ext cx="2044149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1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1) https://namu.wiki/w/robots.txt 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9B738AE-D91E-2A4A-AE53-088C94AAACF9}"/>
              </a:ext>
            </a:extLst>
          </p:cNvPr>
          <p:cNvGrpSpPr/>
          <p:nvPr/>
        </p:nvGrpSpPr>
        <p:grpSpPr>
          <a:xfrm>
            <a:off x="6747926" y="142714"/>
            <a:ext cx="3112603" cy="3365821"/>
            <a:chOff x="6832986" y="145469"/>
            <a:chExt cx="3112603" cy="336582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26A8A14-BA38-2DD9-98E0-0690372E9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2986" y="145469"/>
              <a:ext cx="3112603" cy="30017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249B9B-2B27-6AC9-B224-1DABB194A2B1}"/>
                </a:ext>
              </a:extLst>
            </p:cNvPr>
            <p:cNvSpPr txBox="1"/>
            <p:nvPr/>
          </p:nvSpPr>
          <p:spPr>
            <a:xfrm>
              <a:off x="7177175" y="3141958"/>
              <a:ext cx="2424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유명한 </a:t>
              </a:r>
              <a:r>
                <a:rPr lang="en-US" altLang="ko-KR" dirty="0"/>
                <a:t>Robots </a:t>
              </a:r>
              <a:r>
                <a:rPr lang="ko-KR" altLang="en-US" dirty="0"/>
                <a:t>예제</a:t>
              </a:r>
              <a:r>
                <a:rPr lang="en-US" altLang="ko-KR" baseline="30000" dirty="0"/>
                <a:t>1)</a:t>
              </a:r>
              <a:endParaRPr lang="ko-KR" altLang="en-US" baseline="300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78D6829-1185-951D-CD12-7BC6DCB81D60}"/>
              </a:ext>
            </a:extLst>
          </p:cNvPr>
          <p:cNvSpPr txBox="1"/>
          <p:nvPr/>
        </p:nvSpPr>
        <p:spPr>
          <a:xfrm>
            <a:off x="7398488" y="6012164"/>
            <a:ext cx="2424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Naver robots.txt </a:t>
            </a:r>
            <a:r>
              <a:rPr lang="ko-KR" altLang="en-US" dirty="0"/>
              <a:t>파일</a:t>
            </a:r>
            <a:endParaRPr lang="ko-KR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1250610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BE70F4-7A1A-69BE-7E2A-F02F8E3D6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6</a:t>
            </a:fld>
            <a:endParaRPr lang="en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322C00-DB36-D284-7F96-674282E62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84" y="836156"/>
            <a:ext cx="4680721" cy="588531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338043D-07DE-7A54-CD94-475601960E70}"/>
              </a:ext>
            </a:extLst>
          </p:cNvPr>
          <p:cNvSpPr/>
          <p:nvPr/>
        </p:nvSpPr>
        <p:spPr>
          <a:xfrm>
            <a:off x="743831" y="312936"/>
            <a:ext cx="48556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www.facebook.com/robots.txt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A84805F-51D4-056D-E134-D223810AD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563" y="836156"/>
            <a:ext cx="2898074" cy="588531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F8D6414-23BF-7C2E-E1BD-3E744A51A019}"/>
              </a:ext>
            </a:extLst>
          </p:cNvPr>
          <p:cNvSpPr/>
          <p:nvPr/>
        </p:nvSpPr>
        <p:spPr>
          <a:xfrm>
            <a:off x="6392621" y="312936"/>
            <a:ext cx="443595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www.google.com/robots.txt</a:t>
            </a:r>
            <a:endParaRPr lang="en-US" altLang="ko-KR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63481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CEEB0-2B30-20D8-F7EE-E2A3612E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사이트 이용 약관 확인하기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35759B-A067-3A26-608F-9B93B1EC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7</a:t>
            </a:fld>
            <a:endParaRPr lang="en-KR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783BAC4-ACB9-BF6B-1B91-9ADAA76849B5}"/>
              </a:ext>
            </a:extLst>
          </p:cNvPr>
          <p:cNvGrpSpPr/>
          <p:nvPr/>
        </p:nvGrpSpPr>
        <p:grpSpPr>
          <a:xfrm>
            <a:off x="-43233" y="1690688"/>
            <a:ext cx="12278466" cy="3199068"/>
            <a:chOff x="-86466" y="2257173"/>
            <a:chExt cx="12278466" cy="3199068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86679ABB-49B4-1761-AF7B-B3FDFBCA1195}"/>
                </a:ext>
              </a:extLst>
            </p:cNvPr>
            <p:cNvGrpSpPr/>
            <p:nvPr/>
          </p:nvGrpSpPr>
          <p:grpSpPr>
            <a:xfrm>
              <a:off x="0" y="2257173"/>
              <a:ext cx="12192000" cy="3199068"/>
              <a:chOff x="0" y="2257173"/>
              <a:chExt cx="12192000" cy="3199068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10D934D8-13DB-A5A6-2661-B2F750F8F0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2780393"/>
                <a:ext cx="12192000" cy="2675848"/>
              </a:xfrm>
              <a:prstGeom prst="rect">
                <a:avLst/>
              </a:prstGeom>
            </p:spPr>
          </p:pic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01E830A0-FDD1-6493-1851-7A3DCCB6E801}"/>
                  </a:ext>
                </a:extLst>
              </p:cNvPr>
              <p:cNvSpPr/>
              <p:nvPr/>
            </p:nvSpPr>
            <p:spPr>
              <a:xfrm>
                <a:off x="515844" y="2257173"/>
                <a:ext cx="2845651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ko-KR" alt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무신사</a:t>
                </a:r>
                <a:r>
                  <a:rPr lang="ko-KR" alt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이용 약관</a:t>
                </a:r>
                <a:endParaRPr lang="en-US" altLang="ko-KR" sz="2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p:grp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8DF7DEAD-7D4A-3A7D-94AD-972473BCFA60}"/>
                </a:ext>
              </a:extLst>
            </p:cNvPr>
            <p:cNvSpPr/>
            <p:nvPr/>
          </p:nvSpPr>
          <p:spPr>
            <a:xfrm>
              <a:off x="-86466" y="4614642"/>
              <a:ext cx="12192000" cy="425191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AEDA742-E82E-3AF1-3CC1-7F5634B1E0B9}"/>
              </a:ext>
            </a:extLst>
          </p:cNvPr>
          <p:cNvGrpSpPr/>
          <p:nvPr/>
        </p:nvGrpSpPr>
        <p:grpSpPr>
          <a:xfrm>
            <a:off x="1050593" y="2670226"/>
            <a:ext cx="12281933" cy="3388527"/>
            <a:chOff x="1050593" y="2670226"/>
            <a:chExt cx="12281933" cy="3388527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5987F1AC-A9C6-0961-DB8C-E6F7953C3DD1}"/>
                </a:ext>
              </a:extLst>
            </p:cNvPr>
            <p:cNvGrpSpPr/>
            <p:nvPr/>
          </p:nvGrpSpPr>
          <p:grpSpPr>
            <a:xfrm>
              <a:off x="1050593" y="2670226"/>
              <a:ext cx="11098174" cy="3388527"/>
              <a:chOff x="1050593" y="2670226"/>
              <a:chExt cx="11098174" cy="3388527"/>
            </a:xfrm>
          </p:grpSpPr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2E8214F3-716F-AE92-30C2-82702BE8A7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0593" y="3229433"/>
                <a:ext cx="11098174" cy="2829320"/>
              </a:xfrm>
              <a:prstGeom prst="rect">
                <a:avLst/>
              </a:prstGeom>
            </p:spPr>
          </p:pic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FA2EF26-0B62-FE91-6D2F-41CF316D1694}"/>
                  </a:ext>
                </a:extLst>
              </p:cNvPr>
              <p:cNvSpPr/>
              <p:nvPr/>
            </p:nvSpPr>
            <p:spPr>
              <a:xfrm>
                <a:off x="4629941" y="2670226"/>
                <a:ext cx="2845651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ko-KR" alt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야놀자</a:t>
                </a:r>
                <a:r>
                  <a:rPr lang="ko-KR" alt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이용 약관</a:t>
                </a:r>
                <a:endParaRPr lang="en-US" altLang="ko-KR" sz="2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p:grp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B1181236-05A4-CC18-9EDC-383E52C396B4}"/>
                </a:ext>
              </a:extLst>
            </p:cNvPr>
            <p:cNvSpPr/>
            <p:nvPr/>
          </p:nvSpPr>
          <p:spPr>
            <a:xfrm>
              <a:off x="1140526" y="5346074"/>
              <a:ext cx="12192000" cy="425191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990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117B2-7F85-4D0B-52F6-2435A2DA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D6CF4-A7E8-D4C2-1D46-647E1B462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84296-2D41-47EF-49CE-D014FE0B1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8</a:t>
            </a:fld>
            <a:endParaRPr lang="en-K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1E2C08-5CAA-8BB5-C2A9-80F12201C324}"/>
              </a:ext>
            </a:extLst>
          </p:cNvPr>
          <p:cNvGrpSpPr/>
          <p:nvPr/>
        </p:nvGrpSpPr>
        <p:grpSpPr>
          <a:xfrm>
            <a:off x="130759" y="419427"/>
            <a:ext cx="8479841" cy="5079225"/>
            <a:chOff x="130759" y="419427"/>
            <a:chExt cx="8479841" cy="50792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975A1E-BFC9-86B2-5297-F0753F08C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759" y="868680"/>
              <a:ext cx="8479841" cy="4629972"/>
            </a:xfrm>
            <a:prstGeom prst="rect">
              <a:avLst/>
            </a:prstGeom>
          </p:spPr>
        </p:pic>
        <p:sp>
          <p:nvSpPr>
            <p:cNvPr id="6" name="직사각형 10">
              <a:extLst>
                <a:ext uri="{FF2B5EF4-FFF2-40B4-BE49-F238E27FC236}">
                  <a16:creationId xmlns:a16="http://schemas.microsoft.com/office/drawing/2014/main" id="{C5F5FF3C-57B8-11B2-21A2-B3E37523F100}"/>
                </a:ext>
              </a:extLst>
            </p:cNvPr>
            <p:cNvSpPr/>
            <p:nvPr/>
          </p:nvSpPr>
          <p:spPr>
            <a:xfrm>
              <a:off x="838200" y="419427"/>
              <a:ext cx="252113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ko-KR" sz="280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Github</a:t>
              </a:r>
              <a:r>
                <a:rPr lang="en-US" altLang="ko-KR" sz="2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Policies</a:t>
              </a:r>
              <a:endParaRPr lang="en-US" altLang="ko-KR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F935E8-2C45-38A4-1C4E-88F9AEDC375A}"/>
              </a:ext>
            </a:extLst>
          </p:cNvPr>
          <p:cNvGrpSpPr/>
          <p:nvPr/>
        </p:nvGrpSpPr>
        <p:grpSpPr>
          <a:xfrm>
            <a:off x="3137026" y="1878331"/>
            <a:ext cx="8693426" cy="4123876"/>
            <a:chOff x="3137026" y="1878331"/>
            <a:chExt cx="8693426" cy="41238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4097DD7-ABCD-540C-4643-3186A98F2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7026" y="2522877"/>
              <a:ext cx="8693426" cy="3479330"/>
            </a:xfrm>
            <a:prstGeom prst="rect">
              <a:avLst/>
            </a:prstGeom>
          </p:spPr>
        </p:pic>
        <p:sp>
          <p:nvSpPr>
            <p:cNvPr id="9" name="직사각형 10">
              <a:extLst>
                <a:ext uri="{FF2B5EF4-FFF2-40B4-BE49-F238E27FC236}">
                  <a16:creationId xmlns:a16="http://schemas.microsoft.com/office/drawing/2014/main" id="{62E38576-A4DC-2165-919C-CD58FAAB7196}"/>
                </a:ext>
              </a:extLst>
            </p:cNvPr>
            <p:cNvSpPr/>
            <p:nvPr/>
          </p:nvSpPr>
          <p:spPr>
            <a:xfrm>
              <a:off x="8658140" y="1878331"/>
              <a:ext cx="2203745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ko-KR" sz="280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Arxiv</a:t>
              </a:r>
              <a:r>
                <a:rPr lang="en-US" altLang="ko-KR" sz="2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Policies</a:t>
              </a:r>
              <a:endParaRPr lang="en-US" altLang="ko-KR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316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2A78-8E4F-16F1-12F6-4E2574AC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저작권 및 개인정보 보호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855B0-7CE6-4BC0-522D-641C39451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웹사이트 콘텐츠는 대부분 저작권으로 보호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연구</a:t>
            </a:r>
            <a:r>
              <a:rPr lang="en-US" altLang="ko-KR" dirty="0"/>
              <a:t>,</a:t>
            </a:r>
            <a:r>
              <a:rPr lang="ko-KR" altLang="en-US" dirty="0"/>
              <a:t> 교육 등 제한 된 목적으로만 사용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수집한 데이터를 사용할 때는 출처를 명확히 표시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상업적 이익을 위한 무단 사용 금지</a:t>
            </a:r>
            <a:r>
              <a:rPr lang="en-US" altLang="ko-KR" dirty="0"/>
              <a:t>!!</a:t>
            </a:r>
          </a:p>
          <a:p>
            <a:endParaRPr lang="en-US" altLang="ko-KR" dirty="0"/>
          </a:p>
          <a:p>
            <a:r>
              <a:rPr lang="ko-KR" altLang="en-US" dirty="0"/>
              <a:t>개인정보가 포함된 데이터를 공개</a:t>
            </a:r>
            <a:r>
              <a:rPr lang="en-US" altLang="ko-KR" dirty="0"/>
              <a:t>,</a:t>
            </a:r>
            <a:r>
              <a:rPr lang="ko-KR" altLang="en-US" dirty="0"/>
              <a:t> 공유할 시 반드시 비식별화 처리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11494-D6C9-BC32-3C99-9C575240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20350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228F8-DCDD-6F28-4D15-0EE9C24F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수집 된 데이터 허가 없이 상업적 용도로 사용 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DC7767-D7D1-2261-3A3F-B14DF5F7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10</a:t>
            </a:fld>
            <a:endParaRPr lang="en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84347BC-33E3-789B-C4E8-A06A7B906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16" y="1176596"/>
            <a:ext cx="4710781" cy="53162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E7A988B-83D7-DC56-3805-AD6333EB2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713" y="1176596"/>
            <a:ext cx="5944430" cy="413442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F5E571F-9CC1-65B8-82C3-89398C3A5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206" y="652075"/>
            <a:ext cx="6363588" cy="55538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2A76464-2E57-8521-0E0C-BBCDB5239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8525" y="1292645"/>
            <a:ext cx="5887272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71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FF282A-BB41-0E6A-945A-1F455FCE9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웹사이트에 부하 주지 않기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42EDF2-C964-9EBE-F70F-BC5014C84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과도한 요청은 웹사이트 서버에 부하를 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과도한 요청은 서비스 거부</a:t>
            </a:r>
            <a:r>
              <a:rPr lang="en-US" altLang="ko-KR" dirty="0"/>
              <a:t>(Denial of Service, DoS) </a:t>
            </a:r>
            <a:r>
              <a:rPr lang="ko-KR" altLang="en-US" dirty="0"/>
              <a:t>공격으로 간주 될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크롤링을</a:t>
            </a:r>
            <a:r>
              <a:rPr lang="ko-KR" altLang="en-US" dirty="0"/>
              <a:t> 할 때</a:t>
            </a:r>
            <a:r>
              <a:rPr lang="en-US" altLang="ko-KR" dirty="0"/>
              <a:t>, </a:t>
            </a:r>
            <a:r>
              <a:rPr lang="ko-KR" altLang="en-US" dirty="0"/>
              <a:t>충분한 시간 간격을 줄 것</a:t>
            </a:r>
            <a:r>
              <a:rPr lang="en-US" altLang="ko-KR" dirty="0"/>
              <a:t>.!!!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2000" dirty="0"/>
              <a:t>요청 간 지연 설정</a:t>
            </a:r>
            <a:r>
              <a:rPr lang="en-US" altLang="ko-KR" sz="2000" dirty="0"/>
              <a:t>(Rate Limiting) – </a:t>
            </a:r>
            <a:r>
              <a:rPr lang="ko-KR" altLang="en-US" sz="2000" dirty="0"/>
              <a:t>각 요청 사이 일정한 간격</a:t>
            </a:r>
            <a:br>
              <a:rPr lang="en-US" altLang="ko-KR" sz="2000" dirty="0"/>
            </a:br>
            <a:r>
              <a:rPr lang="en-US" altLang="ko-KR" sz="2000" dirty="0"/>
              <a:t>ex) 5</a:t>
            </a:r>
            <a:r>
              <a:rPr lang="ko-KR" altLang="en-US" sz="2000" dirty="0"/>
              <a:t>초 마다 데이터 요청</a:t>
            </a:r>
            <a:endParaRPr lang="en-US" altLang="ko-KR" sz="2000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2000" dirty="0"/>
              <a:t>랜덤 지연 설정 </a:t>
            </a:r>
            <a:r>
              <a:rPr lang="en-US" altLang="ko-KR" sz="2000" dirty="0"/>
              <a:t>– </a:t>
            </a:r>
            <a:r>
              <a:rPr lang="ko-KR" altLang="en-US" sz="2000" dirty="0"/>
              <a:t>서버 요청이 규칙적일 경우</a:t>
            </a:r>
            <a:r>
              <a:rPr lang="en-US" altLang="ko-KR" sz="2000" dirty="0"/>
              <a:t>, </a:t>
            </a:r>
            <a:r>
              <a:rPr lang="ko-KR" altLang="en-US" sz="2000" dirty="0"/>
              <a:t>비정상적인 트래픽으로 간주  될 수 있음</a:t>
            </a:r>
            <a:br>
              <a:rPr lang="en-US" altLang="ko-KR" sz="2000" dirty="0"/>
            </a:br>
            <a:r>
              <a:rPr lang="en-US" altLang="ko-KR" sz="2000" dirty="0"/>
              <a:t>ex)</a:t>
            </a:r>
            <a:r>
              <a:rPr lang="ko-KR" altLang="en-US" sz="2000" dirty="0"/>
              <a:t> </a:t>
            </a:r>
            <a:r>
              <a:rPr lang="en-US" altLang="ko-KR" sz="2000" dirty="0"/>
              <a:t>1~10</a:t>
            </a:r>
            <a:r>
              <a:rPr lang="ko-KR" altLang="en-US" sz="2000" dirty="0"/>
              <a:t>초 사이의 랜덤 한 시간 간격으로 데이터 요청</a:t>
            </a:r>
            <a:endParaRPr lang="en-US" altLang="ko-KR" sz="2000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2000" dirty="0" err="1"/>
              <a:t>어느정도의</a:t>
            </a:r>
            <a:r>
              <a:rPr lang="ko-KR" altLang="en-US" sz="2000" dirty="0"/>
              <a:t> 요청 후에 일정한 휴식 시간을 가질 것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en-US" altLang="ko-KR" sz="2000" dirty="0"/>
              <a:t>Ex) 1</a:t>
            </a:r>
            <a:r>
              <a:rPr lang="ko-KR" altLang="en-US" sz="2000" dirty="0"/>
              <a:t>시간 동안의 데이터 요청 후</a:t>
            </a:r>
            <a:r>
              <a:rPr lang="en-US" altLang="ko-KR" sz="2000" dirty="0"/>
              <a:t>, 10~20</a:t>
            </a:r>
            <a:r>
              <a:rPr lang="ko-KR" altLang="en-US" sz="2000" dirty="0"/>
              <a:t>분 휴식 후 다시 데이터 요청 시작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endParaRPr lang="en-US" altLang="ko-KR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E667A-A2EE-1478-73D1-F8E5452A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11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386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F151D-AB5A-F5B8-E9AC-D664B5140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</a:t>
            </a:r>
            <a:r>
              <a:rPr lang="en-US" altLang="ko-KR" dirty="0"/>
              <a:t>(Static) vs </a:t>
            </a:r>
            <a:r>
              <a:rPr lang="ko-KR" altLang="en-US" dirty="0"/>
              <a:t>동적</a:t>
            </a:r>
            <a:r>
              <a:rPr lang="en-US" altLang="ko-KR" dirty="0"/>
              <a:t>(Dynamic) </a:t>
            </a:r>
            <a:r>
              <a:rPr lang="ko-KR" altLang="en-US" dirty="0"/>
              <a:t>사이트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E1D4E-09D8-10DA-BACF-4E7D32E00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정적 웹사이트</a:t>
            </a:r>
            <a:endParaRPr lang="en-US" dirty="0"/>
          </a:p>
          <a:p>
            <a:pPr lvl="1"/>
            <a:r>
              <a:rPr lang="en-US" dirty="0"/>
              <a:t>HTML, CSS, JavaScript </a:t>
            </a:r>
            <a:r>
              <a:rPr lang="ko-KR" altLang="en-US" dirty="0"/>
              <a:t>등의 고정된 파일로 구성된 웹사이트</a:t>
            </a:r>
            <a:endParaRPr lang="en-US" altLang="ko-KR" dirty="0"/>
          </a:p>
          <a:p>
            <a:pPr lvl="1"/>
            <a:r>
              <a:rPr lang="ko-KR" altLang="en-US" dirty="0"/>
              <a:t>사용자가 요청하면 서버는 그대로 저장된 파일을 전달</a:t>
            </a:r>
            <a:endParaRPr lang="en-US" altLang="ko-KR" dirty="0"/>
          </a:p>
          <a:p>
            <a:pPr lvl="1"/>
            <a:r>
              <a:rPr lang="ko-KR" altLang="en-US" dirty="0"/>
              <a:t>예시</a:t>
            </a:r>
            <a:r>
              <a:rPr lang="en-US" altLang="ko-KR" dirty="0"/>
              <a:t>)</a:t>
            </a:r>
            <a:r>
              <a:rPr lang="ko-KR" altLang="en-US" dirty="0"/>
              <a:t> 사이트 소개 페이지</a:t>
            </a:r>
            <a:r>
              <a:rPr lang="en-US" altLang="ko-KR" dirty="0"/>
              <a:t>,</a:t>
            </a:r>
            <a:r>
              <a:rPr lang="ko-KR" altLang="en-US" dirty="0"/>
              <a:t> 블로그</a:t>
            </a:r>
            <a:endParaRPr lang="en-US" altLang="ko-KR" dirty="0"/>
          </a:p>
          <a:p>
            <a:pPr lvl="1"/>
            <a:endParaRPr lang="en-US" dirty="0"/>
          </a:p>
          <a:p>
            <a:r>
              <a:rPr lang="ko-KR" altLang="en-US" dirty="0"/>
              <a:t>동적 웹사이트</a:t>
            </a:r>
            <a:endParaRPr lang="en-US" altLang="ko-KR" dirty="0"/>
          </a:p>
          <a:p>
            <a:pPr lvl="1"/>
            <a:r>
              <a:rPr lang="ko-KR" altLang="en-US" dirty="0"/>
              <a:t>사용자의 요청에 따라 실시간으로 콘텐츠를 생성하는 웹사이트</a:t>
            </a:r>
            <a:endParaRPr lang="en-US" altLang="ko-KR" dirty="0"/>
          </a:p>
          <a:p>
            <a:pPr lvl="1"/>
            <a:r>
              <a:rPr lang="ko-KR" altLang="en-US" dirty="0"/>
              <a:t>사용자마다 다른 콘텐츠를 보여 줄 수 있음</a:t>
            </a:r>
            <a:r>
              <a:rPr lang="en-US" altLang="ko-KR" dirty="0"/>
              <a:t>(</a:t>
            </a:r>
            <a:r>
              <a:rPr lang="ko-KR" altLang="en-US" dirty="0"/>
              <a:t>게시판</a:t>
            </a:r>
            <a:r>
              <a:rPr lang="en-US" altLang="ko-KR" dirty="0"/>
              <a:t>,</a:t>
            </a:r>
            <a:r>
              <a:rPr lang="ko-KR" altLang="en-US" dirty="0"/>
              <a:t> 갤러리 등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예시</a:t>
            </a:r>
            <a:r>
              <a:rPr lang="en-US" altLang="ko-KR" dirty="0"/>
              <a:t>)</a:t>
            </a:r>
            <a:r>
              <a:rPr lang="ko-KR" altLang="en-US" dirty="0"/>
              <a:t> 페이스북</a:t>
            </a:r>
            <a:r>
              <a:rPr lang="en-US" altLang="ko-KR" dirty="0"/>
              <a:t>,</a:t>
            </a:r>
            <a:r>
              <a:rPr lang="ko-KR" altLang="en-US" dirty="0"/>
              <a:t> 인스타그램</a:t>
            </a:r>
            <a:r>
              <a:rPr lang="en-US" altLang="ko-KR" dirty="0"/>
              <a:t>,</a:t>
            </a:r>
            <a:r>
              <a:rPr lang="ko-KR" altLang="en-US" dirty="0"/>
              <a:t> 무한 스크롤링 사이트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798C6-0C27-0E38-D1BA-2F2975A48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12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76670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968F-5AE3-C78D-7F12-1BC438E5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</a:t>
            </a:r>
            <a:r>
              <a:rPr lang="en-US" altLang="ko-KR" dirty="0"/>
              <a:t>vs </a:t>
            </a:r>
            <a:r>
              <a:rPr lang="ko-KR" altLang="en-US" dirty="0"/>
              <a:t>동적 </a:t>
            </a:r>
            <a:r>
              <a:rPr lang="ko-KR" altLang="en-US" dirty="0" err="1"/>
              <a:t>크롤링</a:t>
            </a:r>
            <a:endParaRPr lang="en-K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94D1C23-227D-0EA4-9F3B-C9D4BDED1F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8" cy="441515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80260">
                  <a:extLst>
                    <a:ext uri="{9D8B030D-6E8A-4147-A177-3AD203B41FA5}">
                      <a16:colId xmlns:a16="http://schemas.microsoft.com/office/drawing/2014/main" val="2369887755"/>
                    </a:ext>
                  </a:extLst>
                </a:gridCol>
                <a:gridCol w="4217669">
                  <a:extLst>
                    <a:ext uri="{9D8B030D-6E8A-4147-A177-3AD203B41FA5}">
                      <a16:colId xmlns:a16="http://schemas.microsoft.com/office/drawing/2014/main" val="867627953"/>
                    </a:ext>
                  </a:extLst>
                </a:gridCol>
                <a:gridCol w="4217669">
                  <a:extLst>
                    <a:ext uri="{9D8B030D-6E8A-4147-A177-3AD203B41FA5}">
                      <a16:colId xmlns:a16="http://schemas.microsoft.com/office/drawing/2014/main" val="731757811"/>
                    </a:ext>
                  </a:extLst>
                </a:gridCol>
              </a:tblGrid>
              <a:tr h="626999">
                <a:tc>
                  <a:txBody>
                    <a:bodyPr/>
                    <a:lstStyle/>
                    <a:p>
                      <a:pPr algn="ctr"/>
                      <a:endParaRPr lang="en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정적 </a:t>
                      </a:r>
                      <a:r>
                        <a:rPr lang="ko-KR" altLang="en-US" dirty="0" err="1"/>
                        <a:t>크롤링</a:t>
                      </a:r>
                      <a:endParaRPr lang="en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동적 </a:t>
                      </a:r>
                      <a:r>
                        <a:rPr lang="ko-KR" altLang="en-US" dirty="0" err="1"/>
                        <a:t>크롤링</a:t>
                      </a:r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291139"/>
                  </a:ext>
                </a:extLst>
              </a:tr>
              <a:tr h="626999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정의</a:t>
                      </a:r>
                      <a:endParaRPr lang="en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서버에서 완성된 </a:t>
                      </a:r>
                      <a:r>
                        <a:rPr lang="en-US" altLang="ko-KR" dirty="0"/>
                        <a:t>HTML </a:t>
                      </a:r>
                      <a:r>
                        <a:rPr lang="ko-KR" altLang="en-US" dirty="0"/>
                        <a:t>문서를 </a:t>
                      </a:r>
                      <a:r>
                        <a:rPr lang="ko-KR" altLang="en-US" dirty="0" err="1"/>
                        <a:t>받아옴</a:t>
                      </a:r>
                      <a:endParaRPr lang="en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Javascript</a:t>
                      </a:r>
                      <a:r>
                        <a:rPr lang="ko-KR" altLang="en-US" dirty="0" err="1"/>
                        <a:t>를</a:t>
                      </a:r>
                      <a:r>
                        <a:rPr lang="ko-KR" altLang="en-US" dirty="0"/>
                        <a:t> 통해 동적으로 생성되는 데이터를 </a:t>
                      </a:r>
                      <a:r>
                        <a:rPr lang="ko-KR" altLang="en-US" dirty="0" err="1"/>
                        <a:t>받아옴</a:t>
                      </a:r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266004"/>
                  </a:ext>
                </a:extLst>
              </a:tr>
              <a:tr h="626999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자원 사용량</a:t>
                      </a:r>
                      <a:endParaRPr lang="en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적음</a:t>
                      </a:r>
                      <a:endParaRPr lang="en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많음</a:t>
                      </a:r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1189625"/>
                  </a:ext>
                </a:extLst>
              </a:tr>
              <a:tr h="626999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속도</a:t>
                      </a:r>
                      <a:endParaRPr lang="en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빠름</a:t>
                      </a:r>
                      <a:endParaRPr lang="en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상대적으로 느림</a:t>
                      </a:r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555152"/>
                  </a:ext>
                </a:extLst>
              </a:tr>
              <a:tr h="626999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사용 </a:t>
                      </a:r>
                      <a:r>
                        <a:rPr lang="en-US" altLang="ko-KR" dirty="0"/>
                        <a:t>Package</a:t>
                      </a:r>
                      <a:endParaRPr lang="en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BeautifulSoup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Requests</a:t>
                      </a:r>
                      <a:endParaRPr lang="en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Selenium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1349183"/>
                  </a:ext>
                </a:extLst>
              </a:tr>
              <a:tr h="626999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장점</a:t>
                      </a:r>
                      <a:endParaRPr lang="en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구현이 쉽고 데이터 수집이 빠름</a:t>
                      </a:r>
                      <a:endParaRPr lang="en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동적으로 생성되는 데이터 수집 가능</a:t>
                      </a:r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9552556"/>
                  </a:ext>
                </a:extLst>
              </a:tr>
              <a:tr h="626999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단점</a:t>
                      </a:r>
                      <a:endParaRPr lang="en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Javascript</a:t>
                      </a:r>
                      <a:r>
                        <a:rPr lang="ko-KR" altLang="en-US" dirty="0" err="1"/>
                        <a:t>를</a:t>
                      </a:r>
                      <a:r>
                        <a:rPr lang="ko-KR" altLang="en-US" dirty="0"/>
                        <a:t> 통해 동적으로 생성되는 데이터 수집 불가</a:t>
                      </a:r>
                      <a:endParaRPr lang="en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속도가 느리며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자원 소모가 많다</a:t>
                      </a:r>
                      <a:r>
                        <a:rPr lang="en-US" altLang="ko-KR" dirty="0"/>
                        <a:t>.</a:t>
                      </a:r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41965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6EB38-597C-12FE-2F69-D459F7C9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13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74689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A3926-0F80-5DE9-1DBF-FFD03AE39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</a:t>
            </a:r>
            <a:r>
              <a:rPr lang="ko-KR" altLang="en-US" dirty="0" err="1"/>
              <a:t>크롤링</a:t>
            </a:r>
            <a:r>
              <a:rPr lang="ko-KR" altLang="en-US" dirty="0"/>
              <a:t> 가능한 사이트 확인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F6C574-CB00-5984-F68F-F728294A3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0514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Chrome - </a:t>
            </a:r>
            <a:r>
              <a:rPr lang="ko-KR" altLang="en-US" dirty="0"/>
              <a:t>개발자 도구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571654-E338-9A85-B217-B07C3C7C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14</a:t>
            </a:fld>
            <a:endParaRPr lang="en-K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2075D5-746B-BBE6-AB19-F58428166FAF}"/>
              </a:ext>
            </a:extLst>
          </p:cNvPr>
          <p:cNvGrpSpPr/>
          <p:nvPr/>
        </p:nvGrpSpPr>
        <p:grpSpPr>
          <a:xfrm>
            <a:off x="984540" y="2301556"/>
            <a:ext cx="3800820" cy="4476785"/>
            <a:chOff x="984540" y="2301556"/>
            <a:chExt cx="3800820" cy="44767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EA2AACF-B2BF-5DE7-DF95-E9CFA8F4C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4540" y="2301556"/>
              <a:ext cx="3800820" cy="4476785"/>
            </a:xfrm>
            <a:prstGeom prst="rect">
              <a:avLst/>
            </a:prstGeom>
          </p:spPr>
        </p:pic>
        <p:sp>
          <p:nvSpPr>
            <p:cNvPr id="7" name="사각형: 둥근 모서리 18">
              <a:extLst>
                <a:ext uri="{FF2B5EF4-FFF2-40B4-BE49-F238E27FC236}">
                  <a16:creationId xmlns:a16="http://schemas.microsoft.com/office/drawing/2014/main" id="{576F9529-2B28-1F33-AD52-FADD004F419F}"/>
                </a:ext>
              </a:extLst>
            </p:cNvPr>
            <p:cNvSpPr/>
            <p:nvPr/>
          </p:nvSpPr>
          <p:spPr>
            <a:xfrm>
              <a:off x="1536766" y="6361752"/>
              <a:ext cx="1328354" cy="291142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E31B1F-8134-9D99-A608-901D81CCF1C1}"/>
              </a:ext>
            </a:extLst>
          </p:cNvPr>
          <p:cNvGrpSpPr/>
          <p:nvPr/>
        </p:nvGrpSpPr>
        <p:grpSpPr>
          <a:xfrm>
            <a:off x="5424013" y="2525270"/>
            <a:ext cx="6373174" cy="3349723"/>
            <a:chOff x="5424013" y="2525270"/>
            <a:chExt cx="6373174" cy="334972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9B3B87B-C383-FF13-1499-D10ED7E57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24013" y="2525270"/>
              <a:ext cx="6373174" cy="3349723"/>
            </a:xfrm>
            <a:prstGeom prst="rect">
              <a:avLst/>
            </a:prstGeom>
          </p:spPr>
        </p:pic>
        <p:sp>
          <p:nvSpPr>
            <p:cNvPr id="8" name="사각형: 둥근 모서리 18">
              <a:extLst>
                <a:ext uri="{FF2B5EF4-FFF2-40B4-BE49-F238E27FC236}">
                  <a16:creationId xmlns:a16="http://schemas.microsoft.com/office/drawing/2014/main" id="{DE8D369F-689B-BD06-39ED-7F2617278E11}"/>
                </a:ext>
              </a:extLst>
            </p:cNvPr>
            <p:cNvSpPr/>
            <p:nvPr/>
          </p:nvSpPr>
          <p:spPr>
            <a:xfrm>
              <a:off x="10596946" y="2643192"/>
              <a:ext cx="513014" cy="397188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E67859B-173B-B8D9-6D79-9D6E2213CC86}"/>
              </a:ext>
            </a:extLst>
          </p:cNvPr>
          <p:cNvSpPr txBox="1">
            <a:spLocks/>
          </p:cNvSpPr>
          <p:nvPr/>
        </p:nvSpPr>
        <p:spPr>
          <a:xfrm>
            <a:off x="5907910" y="1803596"/>
            <a:ext cx="42051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Settings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26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782C7-AFC7-8FFA-9629-55643B2E3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9100"/>
            <a:ext cx="10515600" cy="5757863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KR" dirty="0"/>
              <a:t>Debugger – Disable JavaScript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KR" dirty="0"/>
              <a:t>Reload the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A8DDF-A0AE-A2AE-F0DB-F3046EE6B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15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C7A67-9BD1-D69F-6626-BAA520337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0" y="136525"/>
            <a:ext cx="4003040" cy="339543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384AEB8-F8D0-BC16-AF3E-D32938FC2275}"/>
              </a:ext>
            </a:extLst>
          </p:cNvPr>
          <p:cNvGrpSpPr/>
          <p:nvPr/>
        </p:nvGrpSpPr>
        <p:grpSpPr>
          <a:xfrm>
            <a:off x="985599" y="1325257"/>
            <a:ext cx="10573941" cy="3945548"/>
            <a:chOff x="612141" y="2173141"/>
            <a:chExt cx="10573941" cy="394554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98F5D75-8E0F-27F2-B12B-A609DFCAA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2141" y="2286000"/>
              <a:ext cx="4980526" cy="371983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104DCC6-F820-4912-A818-2B48B4571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7009" y="2173141"/>
              <a:ext cx="4939073" cy="3945548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943CABA-3AFC-CD86-20F0-CF0598E7D067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5592667" y="4145915"/>
              <a:ext cx="65434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85BB8C6-6F67-24FD-BD51-65E2040E8EC1}"/>
              </a:ext>
            </a:extLst>
          </p:cNvPr>
          <p:cNvSpPr/>
          <p:nvPr/>
        </p:nvSpPr>
        <p:spPr>
          <a:xfrm>
            <a:off x="314176" y="5503314"/>
            <a:ext cx="10778656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현재는 거의 모든 홈페이지가 </a:t>
            </a:r>
            <a:r>
              <a:rPr lang="en-US" altLang="ko-KR" sz="3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Javascript</a:t>
            </a:r>
            <a:r>
              <a:rPr lang="en-US" altLang="ko-KR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기능이 포함 되어 있음</a:t>
            </a:r>
            <a:r>
              <a:rPr lang="en-US" altLang="ko-KR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!!</a:t>
            </a:r>
          </a:p>
          <a:p>
            <a:pPr algn="ctr"/>
            <a:r>
              <a:rPr lang="en-US" altLang="ko-KR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-&gt;</a:t>
            </a:r>
            <a:r>
              <a:rPr lang="ko-KR" altLang="en-US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정적 </a:t>
            </a:r>
            <a:r>
              <a:rPr lang="ko-KR" altLang="en-US" sz="3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크롤링이</a:t>
            </a:r>
            <a:r>
              <a:rPr lang="ko-KR" altLang="en-US" sz="3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거의 불가능</a:t>
            </a:r>
            <a:endParaRPr lang="en-US" sz="30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85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ECB3B-0CBA-8DE9-DF05-DAA0127D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</a:t>
            </a:r>
            <a:r>
              <a:rPr lang="ko-KR" altLang="en-US" dirty="0" err="1"/>
              <a:t>크롤링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A9C05-5DCC-0A7C-BBD8-6ECA3A36A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4C5E1-93AD-55A2-4205-9A9F3DDE9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16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81174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93D37-E467-C268-6112-C0C7F9D2D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 Crawling </a:t>
            </a:r>
            <a:r>
              <a:rPr lang="ko-KR" altLang="en-US" dirty="0"/>
              <a:t>절차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8AF625-7E1E-7059-8D5A-B944E6BDF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2400" dirty="0"/>
              <a:t>URL </a:t>
            </a:r>
            <a:r>
              <a:rPr lang="ko-KR" altLang="en-US" sz="2400" dirty="0"/>
              <a:t>설정</a:t>
            </a:r>
            <a:r>
              <a:rPr lang="en-US" altLang="ko-KR" sz="2400" dirty="0"/>
              <a:t> : </a:t>
            </a:r>
            <a:r>
              <a:rPr lang="ko-KR" altLang="en-US" sz="2400" dirty="0" err="1"/>
              <a:t>크롤링을</a:t>
            </a:r>
            <a:r>
              <a:rPr lang="ko-KR" altLang="en-US" sz="2400" dirty="0"/>
              <a:t> 할 웹 페이지의 주소</a:t>
            </a:r>
            <a:r>
              <a:rPr lang="en-US" altLang="ko-KR" sz="2400" dirty="0"/>
              <a:t>(URL)</a:t>
            </a:r>
            <a:r>
              <a:rPr lang="ko-KR" altLang="en-US" sz="2400" dirty="0"/>
              <a:t>를 선택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dirty="0"/>
              <a:t>서버 요청</a:t>
            </a:r>
            <a:r>
              <a:rPr lang="en-US" altLang="ko-KR" sz="2400" dirty="0"/>
              <a:t> :  </a:t>
            </a:r>
            <a:r>
              <a:rPr lang="ko-KR" altLang="en-US" sz="2400" dirty="0"/>
              <a:t>설정한 </a:t>
            </a:r>
            <a:r>
              <a:rPr lang="en-US" altLang="ko-KR" sz="2400" dirty="0"/>
              <a:t>URL</a:t>
            </a:r>
            <a:r>
              <a:rPr lang="ko-KR" altLang="en-US" sz="2400" dirty="0"/>
              <a:t>의 웹 서버로 요청을 보내어 페이지의 데이터 요청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dirty="0"/>
              <a:t>데이터 수신 </a:t>
            </a:r>
            <a:r>
              <a:rPr lang="en-US" altLang="ko-KR" sz="2400" dirty="0"/>
              <a:t>: </a:t>
            </a:r>
            <a:r>
              <a:rPr lang="ko-KR" altLang="en-US" sz="2400" dirty="0"/>
              <a:t>웹 서버로 부터 요청한</a:t>
            </a:r>
            <a:r>
              <a:rPr lang="en-US" altLang="ko-KR" sz="2400" dirty="0"/>
              <a:t> HTML </a:t>
            </a:r>
            <a:r>
              <a:rPr lang="ko-KR" altLang="en-US" sz="2400" dirty="0"/>
              <a:t>등의 웹 페이지 데이터를 수신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dirty="0"/>
              <a:t>콘텐츠 분석 </a:t>
            </a:r>
            <a:r>
              <a:rPr lang="en-US" altLang="ko-KR" sz="2400" dirty="0"/>
              <a:t>: </a:t>
            </a:r>
            <a:r>
              <a:rPr lang="ko-KR" altLang="en-US" sz="2400" dirty="0"/>
              <a:t>수신 된 웹 페이지 문서의 구문 분석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2400" dirty="0"/>
              <a:t>정보 추출 </a:t>
            </a:r>
            <a:r>
              <a:rPr lang="en-US" altLang="ko-KR" sz="2400" dirty="0"/>
              <a:t>: </a:t>
            </a:r>
            <a:r>
              <a:rPr lang="ko-KR" altLang="en-US" sz="2400" dirty="0"/>
              <a:t>분석 된 콘텐츠에서 필요한 정보만 추출</a:t>
            </a:r>
            <a:endParaRPr lang="en-US" altLang="ko-KR" sz="2400" dirty="0"/>
          </a:p>
          <a:p>
            <a:pPr marL="514350" indent="-514350">
              <a:buFont typeface="+mj-lt"/>
              <a:buAutoNum type="arabicPeriod"/>
            </a:pPr>
            <a:endParaRPr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3513B5-2939-E9B8-5E8F-9A3D0685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17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46241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A07C8-47DA-628F-4231-AA072AB3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 수집 사이트 설정 및 </a:t>
            </a:r>
            <a:r>
              <a:rPr lang="en-US" altLang="ko-KR" dirty="0"/>
              <a:t>URL </a:t>
            </a:r>
            <a:r>
              <a:rPr lang="ko-KR" altLang="en-US" dirty="0"/>
              <a:t>설정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2AC0F7-0D3A-5ED7-2656-DC059C916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D266AC-7C7B-180E-8267-B5D6F5F1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18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11596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C1C74-823C-7CD0-5DBB-DEE4A228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Hollys </a:t>
            </a:r>
            <a:r>
              <a:rPr lang="ko-KR" altLang="en-US" dirty="0"/>
              <a:t>커피 매장 정보 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CAB35-B1AA-1056-42D7-C40890737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>
                <a:hlinkClick r:id="rId2"/>
              </a:rPr>
              <a:t>https://www.hollys.co.kr/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반복되는 </a:t>
            </a:r>
            <a:r>
              <a:rPr lang="en-US" altLang="ko-KR" dirty="0"/>
              <a:t>URL </a:t>
            </a:r>
            <a:r>
              <a:rPr lang="ko-KR" altLang="en-US" dirty="0"/>
              <a:t>패턴을 찾아야 함</a:t>
            </a:r>
            <a:r>
              <a:rPr lang="en-US" altLang="ko-KR" dirty="0"/>
              <a:t>.</a:t>
            </a:r>
          </a:p>
          <a:p>
            <a:pPr marL="971550" lvl="1" indent="-514350">
              <a:buAutoNum type="arabicPeriod"/>
            </a:pPr>
            <a:r>
              <a:rPr lang="en-US" dirty="0"/>
              <a:t>Hollys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Store - </a:t>
            </a:r>
            <a:r>
              <a:rPr lang="ko-KR" altLang="en-US" dirty="0"/>
              <a:t>매장검색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F512D-AFB9-5604-8F9A-7E672A2E2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19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BF36F-54D1-DB73-63B5-CF720E118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392" y="1102929"/>
            <a:ext cx="5731652" cy="507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33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56BB6-3958-7F0E-B144-7FF2778B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20</a:t>
            </a:fld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5E9C02-2D9D-188E-060D-70000D3FE72F}"/>
              </a:ext>
            </a:extLst>
          </p:cNvPr>
          <p:cNvSpPr/>
          <p:nvPr/>
        </p:nvSpPr>
        <p:spPr>
          <a:xfrm>
            <a:off x="574250" y="686048"/>
            <a:ext cx="960673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https://</a:t>
            </a:r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www.hollys.co.kr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/store/</a:t>
            </a:r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korea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/korStore2.do?pageNo=1&amp;sido=&amp;</a:t>
            </a:r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gugun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=&amp;store=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BFBC38-F39F-1A8C-F4FC-74D0F9724399}"/>
              </a:ext>
            </a:extLst>
          </p:cNvPr>
          <p:cNvSpPr/>
          <p:nvPr/>
        </p:nvSpPr>
        <p:spPr>
          <a:xfrm>
            <a:off x="318317" y="285938"/>
            <a:ext cx="222208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매장 검색 </a:t>
            </a:r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페이지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DCDDB2-D35F-1C87-B5AB-6894A28B7064}"/>
              </a:ext>
            </a:extLst>
          </p:cNvPr>
          <p:cNvSpPr/>
          <p:nvPr/>
        </p:nvSpPr>
        <p:spPr>
          <a:xfrm>
            <a:off x="574250" y="1611446"/>
            <a:ext cx="960673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https://</a:t>
            </a:r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www.hollys.co.kr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/store/</a:t>
            </a:r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korea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/korStore2.do?pageNo=2&amp;sido=&amp;</a:t>
            </a:r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gugun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=&amp;store=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889DA0-B811-0C16-41D8-1389DD0F476B}"/>
              </a:ext>
            </a:extLst>
          </p:cNvPr>
          <p:cNvSpPr/>
          <p:nvPr/>
        </p:nvSpPr>
        <p:spPr>
          <a:xfrm>
            <a:off x="318317" y="1211336"/>
            <a:ext cx="222208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매장 검색 </a:t>
            </a:r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페이지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CC3D1B-2306-5E0A-F08E-E7056937F40A}"/>
              </a:ext>
            </a:extLst>
          </p:cNvPr>
          <p:cNvSpPr/>
          <p:nvPr/>
        </p:nvSpPr>
        <p:spPr>
          <a:xfrm>
            <a:off x="574250" y="2536844"/>
            <a:ext cx="960673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https://</a:t>
            </a:r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www.hollys.co.kr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/store/</a:t>
            </a:r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korea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/korStore2.do?pageNo=3&amp;sido=&amp;</a:t>
            </a:r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gugun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=&amp;store=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45AD8E-013B-D027-D1EE-14852837F348}"/>
              </a:ext>
            </a:extLst>
          </p:cNvPr>
          <p:cNvSpPr/>
          <p:nvPr/>
        </p:nvSpPr>
        <p:spPr>
          <a:xfrm>
            <a:off x="318317" y="2136734"/>
            <a:ext cx="222208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매장 검색 </a:t>
            </a:r>
            <a:r>
              <a:rPr lang="en-US" altLang="ko-KR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ko-KR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페이지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69BF9F-78A6-EB17-CF72-DFCFB7291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50" y="3337064"/>
            <a:ext cx="9484150" cy="355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51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A07C8-47DA-628F-4231-AA072AB3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2~3. </a:t>
            </a:r>
            <a:r>
              <a:rPr lang="ko-KR" altLang="en-US" dirty="0"/>
              <a:t>데이터 요청 및 수신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2AC0F7-0D3A-5ED7-2656-DC059C916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D266AC-7C7B-180E-8267-B5D6F5F1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21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04504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56E8-1C0D-FBD4-1163-D55B4ED1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요청 및 수신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7C82C-FEE2-4A49-17B6-7636DA8F5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8518" cy="4351338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URL</a:t>
            </a:r>
            <a:r>
              <a:rPr lang="ko-KR" altLang="en-US" sz="2400" dirty="0"/>
              <a:t>에 해당하는 웹페이지 문서를 요청</a:t>
            </a:r>
            <a:endParaRPr lang="en-US" altLang="ko-KR" sz="2400" dirty="0"/>
          </a:p>
          <a:p>
            <a:pPr lvl="1"/>
            <a:r>
              <a:rPr lang="en-US" sz="2000" dirty="0" err="1"/>
              <a:t>Requests.get</a:t>
            </a:r>
            <a:r>
              <a:rPr lang="en-US" altLang="ko-KR" sz="2000" dirty="0"/>
              <a:t>(</a:t>
            </a:r>
            <a:r>
              <a:rPr lang="en-US" altLang="ko-KR" sz="2000" dirty="0" err="1"/>
              <a:t>url</a:t>
            </a:r>
            <a:r>
              <a:rPr lang="en-US" altLang="ko-KR" sz="2000" dirty="0"/>
              <a:t>)</a:t>
            </a:r>
          </a:p>
          <a:p>
            <a:pPr lvl="1"/>
            <a:endParaRPr lang="en-US" sz="2000" dirty="0"/>
          </a:p>
          <a:p>
            <a:r>
              <a:rPr lang="ko-KR" altLang="en-US" sz="2400" dirty="0"/>
              <a:t>받은 문서</a:t>
            </a:r>
            <a:r>
              <a:rPr lang="en-US" altLang="ko-KR" sz="2400" dirty="0"/>
              <a:t>(</a:t>
            </a:r>
            <a:r>
              <a:rPr lang="en-US" altLang="ko-KR" sz="2400" dirty="0" err="1"/>
              <a:t>response.text</a:t>
            </a:r>
            <a:r>
              <a:rPr lang="en-US" altLang="ko-KR" sz="2400" dirty="0"/>
              <a:t>)</a:t>
            </a:r>
            <a:r>
              <a:rPr lang="ko-KR" altLang="en-US" sz="2400" dirty="0"/>
              <a:t>는 </a:t>
            </a:r>
            <a:r>
              <a:rPr lang="en-US" altLang="ko-KR" sz="2400" dirty="0"/>
              <a:t>str </a:t>
            </a:r>
            <a:r>
              <a:rPr lang="ko-KR" altLang="en-US" sz="2400" dirty="0"/>
              <a:t>형태이므로</a:t>
            </a:r>
            <a:r>
              <a:rPr lang="en-US" altLang="ko-KR" sz="2400" dirty="0"/>
              <a:t>,</a:t>
            </a:r>
            <a:r>
              <a:rPr lang="ko-KR" altLang="en-US" sz="2400" dirty="0"/>
              <a:t> </a:t>
            </a:r>
            <a:r>
              <a:rPr lang="en-US" altLang="ko-KR" sz="2400" dirty="0"/>
              <a:t>HTML </a:t>
            </a:r>
            <a:r>
              <a:rPr lang="ko-KR" altLang="en-US" sz="2400" dirty="0"/>
              <a:t>타입으로 </a:t>
            </a:r>
            <a:r>
              <a:rPr lang="en-US" altLang="ko-KR" sz="2400" dirty="0"/>
              <a:t>Parsing(</a:t>
            </a:r>
            <a:r>
              <a:rPr lang="ko-KR" altLang="en-US" sz="2400" dirty="0"/>
              <a:t>구문 분석</a:t>
            </a:r>
            <a:r>
              <a:rPr lang="en-US" altLang="ko-KR" sz="2400" dirty="0"/>
              <a:t>)</a:t>
            </a:r>
            <a:r>
              <a:rPr lang="ko-KR" altLang="en-US" sz="2400" dirty="0"/>
              <a:t>이 필요</a:t>
            </a:r>
            <a:endParaRPr lang="en-K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4884C-D33D-E439-21F9-C42933F0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22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52E01-D4DB-0E3D-2569-1E0FC217B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777" y="1621025"/>
            <a:ext cx="6399645" cy="4760537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84A0A985-97B6-0F0F-FD84-4708C752CE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7A7483-B467-83A0-4776-8DE67436F386}"/>
              </a:ext>
            </a:extLst>
          </p:cNvPr>
          <p:cNvSpPr txBox="1"/>
          <p:nvPr/>
        </p:nvSpPr>
        <p:spPr>
          <a:xfrm>
            <a:off x="5825765" y="-2545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B93CFE22-6278-D88C-721A-742439A528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67558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4A34-FF69-5BF2-2221-35638D3C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웹페이지 요청</a:t>
            </a:r>
            <a:r>
              <a:rPr lang="en-KR" dirty="0"/>
              <a:t> Package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Requests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D9560-F99C-A1DA-3B29-95B8FE98F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https://requests.readthedocs.io/en/latest/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12938-9FD3-9181-B03D-E30B272D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B68A2-9670-4313-AF32-DDC65D40FD33}" type="slidenum">
              <a:rPr lang="ko-KR" altLang="en-US" smtClean="0"/>
              <a:t>23</a:t>
            </a:fld>
            <a:endParaRPr lang="ko-KR" alt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7AF5A5-0DDD-CF49-69DF-C37483AC0142}"/>
              </a:ext>
            </a:extLst>
          </p:cNvPr>
          <p:cNvGrpSpPr/>
          <p:nvPr/>
        </p:nvGrpSpPr>
        <p:grpSpPr>
          <a:xfrm>
            <a:off x="1034143" y="2319337"/>
            <a:ext cx="5809342" cy="4275818"/>
            <a:chOff x="1468727" y="-3175"/>
            <a:chExt cx="7772400" cy="666517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E96CC54-8B6B-14A9-7E8C-0496631DF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8727" y="-3175"/>
              <a:ext cx="7772400" cy="6665179"/>
            </a:xfrm>
            <a:prstGeom prst="rect">
              <a:avLst/>
            </a:prstGeom>
          </p:spPr>
        </p:pic>
        <p:sp>
          <p:nvSpPr>
            <p:cNvPr id="6" name="사각형: 둥근 모서리 6">
              <a:extLst>
                <a:ext uri="{FF2B5EF4-FFF2-40B4-BE49-F238E27FC236}">
                  <a16:creationId xmlns:a16="http://schemas.microsoft.com/office/drawing/2014/main" id="{281339C3-864D-02BD-F8ED-4AC7556627E7}"/>
                </a:ext>
              </a:extLst>
            </p:cNvPr>
            <p:cNvSpPr/>
            <p:nvPr/>
          </p:nvSpPr>
          <p:spPr>
            <a:xfrm>
              <a:off x="3362227" y="4088875"/>
              <a:ext cx="5423553" cy="681087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31651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A07C8-47DA-628F-4231-AA072AB3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콘텐츠</a:t>
            </a:r>
            <a:r>
              <a:rPr lang="en-US" altLang="ko-KR" dirty="0"/>
              <a:t>(</a:t>
            </a:r>
            <a:r>
              <a:rPr lang="ko-KR" altLang="en-US" dirty="0"/>
              <a:t>구문</a:t>
            </a:r>
            <a:r>
              <a:rPr lang="en-US" altLang="ko-KR" dirty="0"/>
              <a:t>)</a:t>
            </a:r>
            <a:r>
              <a:rPr lang="ko-KR" altLang="en-US" dirty="0"/>
              <a:t> 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2AC0F7-0D3A-5ED7-2656-DC059C916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D266AC-7C7B-180E-8267-B5D6F5F1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24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3721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A582-551E-F731-B3EA-B7B0E425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구문 분석 </a:t>
            </a:r>
            <a:r>
              <a:rPr lang="en-US" altLang="ko-KR" dirty="0"/>
              <a:t>Package - </a:t>
            </a:r>
            <a:r>
              <a:rPr lang="en-US" altLang="ko-KR" dirty="0" err="1"/>
              <a:t>BeautifulSoup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888C5-44D5-CCC6-A8BF-EFCCE6378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https://beautiful-soup-4.readthedocs.io/en/latest/#</a:t>
            </a:r>
            <a:endParaRPr lang="en-US" dirty="0"/>
          </a:p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27D0E-42F8-A5A7-04CE-2BE1E691D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25</a:t>
            </a:fld>
            <a:endParaRPr lang="en-K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042FA79-D125-1774-19FD-42BF343E8B47}"/>
              </a:ext>
            </a:extLst>
          </p:cNvPr>
          <p:cNvGrpSpPr/>
          <p:nvPr/>
        </p:nvGrpSpPr>
        <p:grpSpPr>
          <a:xfrm>
            <a:off x="1113972" y="2384100"/>
            <a:ext cx="4982028" cy="4205386"/>
            <a:chOff x="3469982" y="258890"/>
            <a:chExt cx="7772400" cy="572549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54D2D18-567C-2FE8-BF32-E348B4968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69982" y="258890"/>
              <a:ext cx="7772400" cy="5725497"/>
            </a:xfrm>
            <a:prstGeom prst="rect">
              <a:avLst/>
            </a:prstGeom>
          </p:spPr>
        </p:pic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49E9A95D-D4A7-959B-B0FE-16D4F2A6C4FE}"/>
                </a:ext>
              </a:extLst>
            </p:cNvPr>
            <p:cNvSpPr/>
            <p:nvPr/>
          </p:nvSpPr>
          <p:spPr>
            <a:xfrm>
              <a:off x="5727192" y="1409929"/>
              <a:ext cx="3716485" cy="756969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01692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A94D1-8B66-4703-CB2E-9F1FA1A6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</a:t>
            </a:r>
            <a:r>
              <a:rPr lang="ko-KR" altLang="en-US" dirty="0"/>
              <a:t>문서 구조 예시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F6033-7BD0-D247-2996-A2C68A97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26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0274D2-60E6-E102-5417-A6DD2B46F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4089"/>
            <a:ext cx="6330885" cy="4124823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6F3B5D4-B504-574C-CA52-B672315FA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BeautifulSoup</a:t>
            </a:r>
            <a:r>
              <a:rPr lang="en-US" dirty="0"/>
              <a:t> </a:t>
            </a:r>
            <a:r>
              <a:rPr lang="ko-KR" altLang="en-US" dirty="0"/>
              <a:t>패키지를 사용해서 </a:t>
            </a:r>
            <a:r>
              <a:rPr lang="en-US" altLang="ko-KR" dirty="0"/>
              <a:t>HTML</a:t>
            </a:r>
            <a:r>
              <a:rPr lang="ko-KR" altLang="en-US" dirty="0"/>
              <a:t>을 </a:t>
            </a:r>
            <a:r>
              <a:rPr lang="en-US" altLang="ko-KR" dirty="0"/>
              <a:t>Parsing</a:t>
            </a:r>
            <a:endParaRPr lang="en-KR" dirty="0"/>
          </a:p>
        </p:txBody>
      </p:sp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A5117CC-653F-2B32-F7D2-DFC43C60D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771978"/>
            <a:ext cx="7772400" cy="488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5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A07C8-47DA-628F-4231-AA072AB3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정보 추출 및 저장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2AC0F7-0D3A-5ED7-2656-DC059C916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D266AC-7C7B-180E-8267-B5D6F5F1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27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81096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257B8-7E17-18EA-C6BB-21D10D5FC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필요한 정보 추출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A9A91-61CE-B0E9-73EA-5240E3A0F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필요한 정보의 </a:t>
            </a:r>
            <a:r>
              <a:rPr lang="en-US" altLang="ko-KR" dirty="0"/>
              <a:t>HTML </a:t>
            </a:r>
            <a:r>
              <a:rPr lang="ko-KR" altLang="en-US" dirty="0"/>
              <a:t>정보를 찾는다</a:t>
            </a:r>
            <a:r>
              <a:rPr lang="en-US" altLang="ko-KR" dirty="0"/>
              <a:t>.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695D8-22CA-42DE-6239-18E3774A0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28</a:t>
            </a:fld>
            <a:endParaRPr lang="en-K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22A2CC-DB8D-0F6A-A795-1574D19D9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305" y="2457170"/>
            <a:ext cx="5672277" cy="3852201"/>
          </a:xfrm>
          <a:prstGeom prst="rect">
            <a:avLst/>
          </a:prstGeom>
        </p:spPr>
      </p:pic>
      <p:sp>
        <p:nvSpPr>
          <p:cNvPr id="6" name="사각형: 둥근 모서리 6">
            <a:extLst>
              <a:ext uri="{FF2B5EF4-FFF2-40B4-BE49-F238E27FC236}">
                <a16:creationId xmlns:a16="http://schemas.microsoft.com/office/drawing/2014/main" id="{7EC77BF6-7200-DF1B-E760-321BCD04507F}"/>
              </a:ext>
            </a:extLst>
          </p:cNvPr>
          <p:cNvSpPr/>
          <p:nvPr/>
        </p:nvSpPr>
        <p:spPr>
          <a:xfrm>
            <a:off x="4505031" y="2457170"/>
            <a:ext cx="608507" cy="54348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698CCE-6BFB-AD6D-8E8E-57B128EAAD86}"/>
              </a:ext>
            </a:extLst>
          </p:cNvPr>
          <p:cNvSpPr/>
          <p:nvPr/>
        </p:nvSpPr>
        <p:spPr>
          <a:xfrm>
            <a:off x="7048424" y="3401129"/>
            <a:ext cx="5098448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”Select in element” </a:t>
            </a:r>
            <a:r>
              <a:rPr lang="ko-KR" altLang="en-US" sz="2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버튼을 클릭하고 </a:t>
            </a:r>
            <a:endParaRPr lang="en-US" altLang="ko-KR" sz="2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ko-KR" altLang="en-US" sz="2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웹페이지에서 내가 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확인하고 싶은 </a:t>
            </a:r>
            <a:endParaRPr lang="en-US" altLang="ko-KR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부분의 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element 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정보를 확인</a:t>
            </a:r>
            <a:endParaRPr lang="en-US" sz="2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205851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514D8-B591-B29E-A9D9-31510F7C9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78661-3278-A6D2-6454-7F274B9E1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1BDDB-A072-876B-ED71-F61F994E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29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04630-E398-7EA9-49E3-6A0742379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98" y="205512"/>
            <a:ext cx="11087883" cy="502650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8A836F5-34A5-E36F-3B73-C242CB828999}"/>
              </a:ext>
            </a:extLst>
          </p:cNvPr>
          <p:cNvGrpSpPr/>
          <p:nvPr/>
        </p:nvGrpSpPr>
        <p:grpSpPr>
          <a:xfrm>
            <a:off x="2559113" y="3880623"/>
            <a:ext cx="7200900" cy="2668684"/>
            <a:chOff x="2559113" y="3880623"/>
            <a:chExt cx="7200900" cy="266868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80D7B13-BF4E-377C-AE65-877D87B82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59113" y="3880623"/>
              <a:ext cx="7200900" cy="19304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68DA42-23DC-F2A3-2252-79BACF91A40B}"/>
                </a:ext>
              </a:extLst>
            </p:cNvPr>
            <p:cNvSpPr/>
            <p:nvPr/>
          </p:nvSpPr>
          <p:spPr>
            <a:xfrm>
              <a:off x="3118046" y="5718310"/>
              <a:ext cx="6167551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HTML element</a:t>
              </a:r>
              <a:r>
                <a:rPr lang="ko-KR" alt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가 </a:t>
              </a:r>
              <a:r>
                <a:rPr lang="en-US" altLang="ko-KR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“</a:t>
              </a:r>
              <a:r>
                <a:rPr lang="en-US" altLang="ko-KR" sz="24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td</a:t>
              </a:r>
              <a:r>
                <a:rPr lang="en-US" altLang="ko-KR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”</a:t>
              </a:r>
              <a:r>
                <a:rPr lang="ko-KR" alt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이고</a:t>
              </a:r>
              <a:r>
                <a:rPr lang="en-US" altLang="ko-KR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r>
                <a:rPr lang="ko-KR" alt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en-US" altLang="ko-KR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class</a:t>
              </a:r>
              <a:r>
                <a:rPr lang="ko-KR" alt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가 </a:t>
              </a:r>
              <a:r>
                <a:rPr lang="en-US" altLang="ko-KR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“</a:t>
              </a:r>
              <a:r>
                <a:rPr lang="en-US" altLang="ko-KR" sz="2400" dirty="0" err="1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center_t</a:t>
              </a:r>
              <a:r>
                <a:rPr lang="en-US" altLang="ko-KR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”</a:t>
              </a:r>
              <a:r>
                <a:rPr lang="ko-KR" alt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에 해당하는 데이터를 추출해야 됨 </a:t>
              </a:r>
              <a:endParaRPr lang="en-US" sz="2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" name="사각형: 둥근 모서리 6">
              <a:extLst>
                <a:ext uri="{FF2B5EF4-FFF2-40B4-BE49-F238E27FC236}">
                  <a16:creationId xmlns:a16="http://schemas.microsoft.com/office/drawing/2014/main" id="{5BFD2483-55D1-4721-9A72-960E078E100F}"/>
                </a:ext>
              </a:extLst>
            </p:cNvPr>
            <p:cNvSpPr/>
            <p:nvPr/>
          </p:nvSpPr>
          <p:spPr>
            <a:xfrm>
              <a:off x="3697163" y="4232704"/>
              <a:ext cx="1798115" cy="206131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398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31E50-EDA5-3FB1-DAB8-0F2757283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30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4D2D0-9715-5E63-9A71-66EF5721C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11" y="628615"/>
            <a:ext cx="11676978" cy="48932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ACDDA1-B9C8-C102-E908-099980825EA4}"/>
              </a:ext>
            </a:extLst>
          </p:cNvPr>
          <p:cNvSpPr/>
          <p:nvPr/>
        </p:nvSpPr>
        <p:spPr>
          <a:xfrm>
            <a:off x="898629" y="5708298"/>
            <a:ext cx="1063346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 element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가 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en-US" altLang="ko-KR" sz="2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td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이고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가 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en-US" altLang="ko-KR" sz="24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center_t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에 해당하는 데이터를 모두 추출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99036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6430B-27DB-ACBD-C507-28F5121B9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93" y="307543"/>
            <a:ext cx="10515600" cy="4351338"/>
          </a:xfrm>
        </p:spPr>
        <p:txBody>
          <a:bodyPr/>
          <a:lstStyle/>
          <a:p>
            <a:r>
              <a:rPr lang="ko-KR" altLang="en-US" dirty="0"/>
              <a:t>어떤 데이터가 추출 되었는지 내용을 확인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BB7AB-93F2-FE99-20B3-24546652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31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90932-5236-786F-466F-F9DF7ACB6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44" y="905521"/>
            <a:ext cx="6175159" cy="4376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AB4627-C0CA-65B8-A6AE-8374B86CACF6}"/>
              </a:ext>
            </a:extLst>
          </p:cNvPr>
          <p:cNvSpPr/>
          <p:nvPr/>
        </p:nvSpPr>
        <p:spPr>
          <a:xfrm>
            <a:off x="898629" y="5657671"/>
            <a:ext cx="1063346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 element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가 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en-US" altLang="ko-KR" sz="2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td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이고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가 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en-US" altLang="ko-KR" sz="24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center_t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에 해당하는 데이터를 모두 추출</a:t>
            </a:r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</a:t>
            </a:r>
          </a:p>
          <a:p>
            <a:pPr algn="ctr"/>
            <a:r>
              <a:rPr lang="en-US" altLang="ko-KR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But, </a:t>
            </a:r>
            <a:r>
              <a:rPr lang="ko-KR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주소 이외에도 다른 데이터들도 같이 추출 됨</a:t>
            </a:r>
            <a:endParaRPr lang="en-US" altLang="ko-KR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2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3814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2713-91AB-BC9B-8F23-F18CB2E51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136A2-795F-B36C-4E1C-1AEB0CAA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32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DA376-6CEE-3C57-F8D4-06D67F809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81247" cy="1243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46BE32-E606-BCC8-9220-F5D64E0EE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53" y="2455649"/>
            <a:ext cx="11245628" cy="11832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096B0D-FAD4-75BB-A836-5FAD634959A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163" b="9005"/>
          <a:stretch/>
        </p:blipFill>
        <p:spPr>
          <a:xfrm>
            <a:off x="142622" y="1243333"/>
            <a:ext cx="11638625" cy="12433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D0BEC2-37E2-BF5E-56CE-56E1B17DA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53" y="3713003"/>
            <a:ext cx="11035684" cy="11937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8699C1-7285-9EB2-B2AA-96FC84CA99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703" y="5043270"/>
            <a:ext cx="11103585" cy="7122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317CEA-6FEF-D290-652B-7260E20532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752" y="5854413"/>
            <a:ext cx="11226574" cy="100358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28CC89B-8B7D-D15A-C63D-2B579C79045D}"/>
              </a:ext>
            </a:extLst>
          </p:cNvPr>
          <p:cNvSpPr/>
          <p:nvPr/>
        </p:nvSpPr>
        <p:spPr>
          <a:xfrm>
            <a:off x="2490807" y="3104535"/>
            <a:ext cx="7011375" cy="830997"/>
          </a:xfrm>
          <a:prstGeom prst="rect">
            <a:avLst/>
          </a:prstGeom>
          <a:solidFill>
            <a:srgbClr val="92D05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ko-KR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개 데이터 모두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 element</a:t>
            </a:r>
            <a:r>
              <a:rPr lang="ko-KR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가 </a:t>
            </a:r>
            <a:r>
              <a:rPr lang="en-US" altLang="ko-KR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en-US" altLang="ko-KR" sz="2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td</a:t>
            </a:r>
            <a:r>
              <a:rPr lang="en-US" altLang="ko-KR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ko-KR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이고</a:t>
            </a:r>
            <a:r>
              <a:rPr lang="en-US" altLang="ko-KR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ko-KR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ko-KR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</a:t>
            </a:r>
            <a:r>
              <a:rPr lang="ko-KR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가 </a:t>
            </a:r>
            <a:r>
              <a:rPr lang="en-US" altLang="ko-KR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en-US" altLang="ko-KR" sz="2400" b="1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center_t</a:t>
            </a:r>
            <a:r>
              <a:rPr lang="en-US" altLang="ko-KR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ko-KR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에 해당</a:t>
            </a:r>
            <a:endParaRPr lang="en-US" sz="24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982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F4FD-31ED-0D81-18EE-FF2B0A6FE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707DE-E356-8E56-C8AC-9A3459876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50182-CF47-1FAB-A633-BEECF850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33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05FD81-61E8-E94F-2BCA-5B19481ED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69" y="681037"/>
            <a:ext cx="11372461" cy="514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025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086A-97E6-F768-9962-F2C7F0D05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KR" sz="3200" dirty="0"/>
              <a:t>Question. </a:t>
            </a:r>
            <a:r>
              <a:rPr lang="en-US" sz="32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Hollys </a:t>
            </a:r>
            <a:r>
              <a:rPr lang="ko-KR" altLang="en-US" sz="32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매장 정보를 </a:t>
            </a:r>
            <a:r>
              <a:rPr lang="en-US" altLang="ko-KR" sz="32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</a:t>
            </a:r>
            <a:r>
              <a:rPr lang="ko-KR" altLang="en-US" sz="32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페이지부터 </a:t>
            </a:r>
            <a:r>
              <a:rPr lang="en-US" altLang="ko-KR" sz="32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10</a:t>
            </a:r>
            <a:r>
              <a:rPr lang="ko-KR" altLang="en-US" sz="32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페이지까지</a:t>
            </a:r>
            <a:r>
              <a:rPr lang="en-US" altLang="ko-KR" sz="32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  <a:r>
              <a:rPr lang="ko-KR" altLang="en-US" sz="32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각 매장의 주소</a:t>
            </a:r>
            <a:r>
              <a:rPr lang="en-US" altLang="ko-KR" sz="32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  <a:r>
              <a:rPr lang="ko-KR" altLang="en-US" sz="32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전화번호를 수집 </a:t>
            </a:r>
            <a:br>
              <a:rPr lang="ko-KR" altLang="en-US" sz="32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</a:br>
            <a:endParaRPr lang="en-KR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3F912-F035-14B1-F06D-9173E963D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113FD-1E5C-8FD3-8466-BDE4E404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34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4B0F1-D945-95A8-3E5A-08756685C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736" y="1393794"/>
            <a:ext cx="7129997" cy="50990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75A6B1-B853-A63E-E6B4-75C019FEC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36" y="157521"/>
            <a:ext cx="10634652" cy="643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1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ECB3B-0CBA-8DE9-DF05-DAA0127D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</a:t>
            </a:r>
            <a:r>
              <a:rPr lang="ko-KR" altLang="en-US" dirty="0" err="1"/>
              <a:t>크롤링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A9C05-5DCC-0A7C-BBD8-6ECA3A36A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4C5E1-93AD-55A2-4205-9A9F3DDE9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35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46487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F7BD-0AB0-D9A7-F32D-041B7B03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</a:t>
            </a:r>
            <a:r>
              <a:rPr lang="ko-KR" altLang="en-US" dirty="0" err="1"/>
              <a:t>크롤링</a:t>
            </a:r>
            <a:r>
              <a:rPr lang="ko-KR" altLang="en-US" dirty="0"/>
              <a:t> </a:t>
            </a:r>
            <a:r>
              <a:rPr lang="en-US" altLang="ko-KR" dirty="0"/>
              <a:t>Package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en-KR" dirty="0"/>
              <a:t>Selenium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A0942-6832-5FEF-2D29-D7059FEA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067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hlinkClick r:id="rId2"/>
              </a:rPr>
              <a:t>https://www.selenium.dev/</a:t>
            </a:r>
            <a:endParaRPr lang="en-US" sz="2400" dirty="0"/>
          </a:p>
          <a:p>
            <a:r>
              <a:rPr lang="ko-KR" alt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웹 애플리케이션의 자동화 테스트를 위해 브라우저를 프로그래밍 방식으로 제어할 수 있는 오픈 소스 프레임워크</a:t>
            </a:r>
            <a:endParaRPr lang="en-KR" sz="2400" dirty="0"/>
          </a:p>
          <a:p>
            <a:endParaRPr lang="en-K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1E5A5-4643-7390-46BD-6E34BEE2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36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000B8-A853-8992-B96B-78A3C5D59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01" y="2737398"/>
            <a:ext cx="6717112" cy="404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7857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50088-26B1-F7C9-4BF2-E849F5A3C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Selenium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ChromeDriver</a:t>
            </a:r>
            <a:r>
              <a:rPr lang="en-US" altLang="ko-KR" dirty="0"/>
              <a:t> </a:t>
            </a:r>
            <a:r>
              <a:rPr lang="ko-KR" altLang="en-US" dirty="0"/>
              <a:t>설치 및 실행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23A09-7AF6-32E9-5980-6A7E4F9E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 err="1"/>
              <a:t>Colab</a:t>
            </a:r>
            <a:r>
              <a:rPr lang="en-US" altLang="ko-KR" dirty="0"/>
              <a:t> notebook </a:t>
            </a:r>
            <a:r>
              <a:rPr lang="ko-KR" altLang="en-US" dirty="0"/>
              <a:t>에 </a:t>
            </a:r>
            <a:r>
              <a:rPr lang="en-US" altLang="ko-KR" dirty="0"/>
              <a:t>google driver</a:t>
            </a:r>
            <a:r>
              <a:rPr lang="ko-KR" altLang="en-US" dirty="0" err="1"/>
              <a:t>를</a:t>
            </a:r>
            <a:r>
              <a:rPr lang="ko-KR" altLang="en-US" dirty="0"/>
              <a:t> 연결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Selenium,</a:t>
            </a:r>
            <a:r>
              <a:rPr lang="ko-KR" altLang="en-US" dirty="0"/>
              <a:t> </a:t>
            </a:r>
            <a:r>
              <a:rPr lang="en-US" altLang="ko-KR" dirty="0" err="1"/>
              <a:t>Chromedriver</a:t>
            </a:r>
            <a:r>
              <a:rPr lang="en-US" altLang="ko-KR" dirty="0"/>
              <a:t> </a:t>
            </a:r>
            <a:r>
              <a:rPr lang="ko-KR" altLang="en-US" dirty="0"/>
              <a:t>다운로드 및 설치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0FA49-6130-8218-08FF-373821CC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37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5473A2-B8A6-0DA1-5ED9-03107C72D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548" y="2267834"/>
            <a:ext cx="5499100" cy="1511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7B9C9A-A777-50BD-53BD-EE0A39EA6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88" y="4478033"/>
            <a:ext cx="11858799" cy="108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7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1F156-F2E4-4C35-8C08-FA147C39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" y="214685"/>
            <a:ext cx="11035748" cy="5962278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Selenium, </a:t>
            </a:r>
            <a:r>
              <a:rPr lang="en-US" dirty="0" err="1"/>
              <a:t>ChromeDriver</a:t>
            </a:r>
            <a:r>
              <a:rPr lang="en-US" dirty="0"/>
              <a:t> </a:t>
            </a:r>
            <a:r>
              <a:rPr lang="ko-KR" altLang="en-US" dirty="0"/>
              <a:t>설정</a:t>
            </a:r>
            <a:endParaRPr lang="en-US" altLang="ko-KR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r>
              <a:rPr lang="en-US" dirty="0" err="1"/>
              <a:t>ChromeDriver</a:t>
            </a:r>
            <a:r>
              <a:rPr lang="en-US" dirty="0"/>
              <a:t> </a:t>
            </a:r>
            <a:r>
              <a:rPr lang="ko-KR" altLang="en-US" dirty="0"/>
              <a:t>실행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48DAA-0DF5-1D2B-7C91-9F86BAEE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38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0E068-573B-08F5-A891-AB46BE21C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1" y="739684"/>
            <a:ext cx="11823197" cy="3029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B41EA8-E352-220E-8DE3-A5B3C3429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51" y="4782081"/>
            <a:ext cx="9702761" cy="98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A07C8-47DA-628F-4231-AA072AB3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 수집 사이트 설정 및 </a:t>
            </a:r>
            <a:r>
              <a:rPr lang="en-US" altLang="ko-KR" dirty="0"/>
              <a:t>URL </a:t>
            </a:r>
            <a:r>
              <a:rPr lang="ko-KR" altLang="en-US" dirty="0"/>
              <a:t>설정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2AC0F7-0D3A-5ED7-2656-DC059C916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D266AC-7C7B-180E-8267-B5D6F5F1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39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39460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1FCFE-89ED-2738-B510-E62F456C7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인스타그램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EE875-D169-F14E-28D5-86570C89F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https://www.instagram.com/</a:t>
            </a:r>
            <a:endParaRPr lang="en-US" dirty="0"/>
          </a:p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FAD2F-F448-C75C-C891-D5670642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40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85395-19D4-E1BB-7B98-EC54D19EC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86" y="2438400"/>
            <a:ext cx="5990771" cy="401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501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9FB2-E10F-F265-9C97-9A8FA8D8A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URL </a:t>
            </a:r>
            <a:r>
              <a:rPr lang="ko-KR" altLang="en-US" dirty="0"/>
              <a:t>설정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A9E6D-9DA4-BDC4-863D-3EE2238AB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인스타그램으로</a:t>
            </a:r>
            <a:r>
              <a:rPr lang="ko-KR" altLang="en-US" dirty="0"/>
              <a:t> 이동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ko-KR" altLang="en-US" dirty="0"/>
              <a:t>   주의할 점</a:t>
            </a:r>
            <a:br>
              <a:rPr lang="en-US" altLang="ko-KR" dirty="0"/>
            </a:br>
            <a:r>
              <a:rPr lang="en-US" altLang="ko-KR" dirty="0"/>
              <a:t>    - </a:t>
            </a:r>
            <a:r>
              <a:rPr lang="en-US" altLang="ko-KR" dirty="0" err="1"/>
              <a:t>ChromeDriver</a:t>
            </a:r>
            <a:r>
              <a:rPr lang="ko-KR" altLang="en-US" dirty="0" err="1"/>
              <a:t>를</a:t>
            </a:r>
            <a:r>
              <a:rPr lang="ko-KR" altLang="en-US" dirty="0"/>
              <a:t> 시작하고 각 명령어마다 </a:t>
            </a:r>
            <a:r>
              <a:rPr lang="en-US" altLang="ko-KR" dirty="0"/>
              <a:t>5~10</a:t>
            </a:r>
            <a:r>
              <a:rPr lang="ko-KR" altLang="en-US" dirty="0"/>
              <a:t>초 정도의 여유를 두고 실행 할 것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    </a:t>
            </a:r>
            <a:r>
              <a:rPr lang="en-US" altLang="ko-KR" dirty="0"/>
              <a:t>-</a:t>
            </a:r>
            <a:r>
              <a:rPr lang="ko-KR" altLang="en-US" dirty="0"/>
              <a:t> 이전 명령어 실행 결과</a:t>
            </a:r>
            <a:r>
              <a:rPr lang="en-US" altLang="ko-KR" dirty="0"/>
              <a:t>(</a:t>
            </a:r>
            <a:r>
              <a:rPr lang="ko-KR" altLang="en-US" dirty="0"/>
              <a:t>웹 페이지 로딩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받기도 전에 다음 명령어 실행 되면 에러 발생 가능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8ECBF-5248-510C-59B8-0E9A8050A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41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137AE9-8042-BB72-1AC9-C8F0923B8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194" y="2319848"/>
            <a:ext cx="6230178" cy="11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619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BC29C-35BE-74A1-6832-4142304B7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인스타그램 로그인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3437F-00DA-FAE8-857A-9EED0336C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인스타그램은 로그인을 해야 데이터를 확인 가능</a:t>
            </a:r>
            <a:endParaRPr lang="en-US" altLang="ko-KR" dirty="0"/>
          </a:p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7933F-073C-1A72-1F5D-C594418D7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42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540532-3853-3F3C-9E64-B0BD37B23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43" y="2425772"/>
            <a:ext cx="5774258" cy="443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61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A95C9-35BB-31F5-3B9F-E830E7B16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로그인 정보 입력하기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981FD-5F04-342D-C81A-E9507C73B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ChromeDriver</a:t>
            </a:r>
            <a:r>
              <a:rPr lang="ko-KR" altLang="en-US" dirty="0"/>
              <a:t>에게 로그인 정보를 전달해야 됨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</a:t>
            </a:r>
            <a:r>
              <a:rPr lang="ko-KR" altLang="en-US" dirty="0"/>
              <a:t> 로그인 정보를 입력하는 창의 </a:t>
            </a:r>
            <a:r>
              <a:rPr lang="en-US" altLang="ko-KR" dirty="0"/>
              <a:t>HTML </a:t>
            </a:r>
            <a:r>
              <a:rPr lang="ko-KR" altLang="en-US" dirty="0"/>
              <a:t>요소를 확인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C4783-1702-165B-17E6-EE509E7C9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43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86C4CC-93C2-FBAD-47A3-3825D4007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10838290" cy="263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243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8699B-892E-06B0-18AB-07DEC1CB6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57" y="278296"/>
            <a:ext cx="11003943" cy="5898667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/>
              <a:t>Selector </a:t>
            </a:r>
            <a:r>
              <a:rPr lang="ko-KR" altLang="en-US" dirty="0"/>
              <a:t>정보를 복사 및 설정</a:t>
            </a:r>
            <a:br>
              <a:rPr lang="en-US" altLang="ko-KR" dirty="0"/>
            </a:br>
            <a:r>
              <a:rPr lang="en-US" altLang="ko-KR" sz="1800" dirty="0"/>
              <a:t>Selector : HTML</a:t>
            </a:r>
            <a:r>
              <a:rPr lang="ko-KR" altLang="en-US" sz="1800" dirty="0"/>
              <a:t> 문서의 특정 요소</a:t>
            </a:r>
            <a:r>
              <a:rPr lang="en-US" altLang="ko-KR" sz="1800" dirty="0"/>
              <a:t>(Elements)</a:t>
            </a:r>
            <a:r>
              <a:rPr lang="ko-KR" altLang="en-US" sz="1800" dirty="0" err="1"/>
              <a:t>를</a:t>
            </a:r>
            <a:r>
              <a:rPr lang="ko-KR" altLang="en-US" sz="1800" dirty="0"/>
              <a:t> 선택하기 위해 사용되는 패턴</a:t>
            </a:r>
            <a:r>
              <a:rPr lang="en-US" altLang="ko-KR" sz="1800" dirty="0"/>
              <a:t>,</a:t>
            </a:r>
            <a:r>
              <a:rPr lang="ko-KR" altLang="en-US" sz="1800" dirty="0"/>
              <a:t> 식</a:t>
            </a:r>
            <a:endParaRPr lang="en-US" altLang="ko-KR" sz="1800" dirty="0"/>
          </a:p>
          <a:p>
            <a:pPr marL="514350" indent="-514350">
              <a:buFont typeface="+mj-lt"/>
              <a:buAutoNum type="arabicPeriod" startAt="2"/>
            </a:pPr>
            <a:endParaRPr lang="en-US" altLang="ko-KR" sz="1800" dirty="0"/>
          </a:p>
          <a:p>
            <a:pPr marL="514350" indent="-514350">
              <a:buFont typeface="+mj-lt"/>
              <a:buAutoNum type="arabicPeriod" startAt="2"/>
            </a:pPr>
            <a:endParaRPr lang="en-US" altLang="ko-KR" sz="1800" dirty="0"/>
          </a:p>
          <a:p>
            <a:pPr marL="514350" indent="-514350">
              <a:buFont typeface="+mj-lt"/>
              <a:buAutoNum type="arabicPeriod" startAt="2"/>
            </a:pPr>
            <a:endParaRPr lang="en-US" altLang="ko-KR" sz="1800" dirty="0"/>
          </a:p>
          <a:p>
            <a:pPr marL="514350" indent="-514350">
              <a:buFont typeface="+mj-lt"/>
              <a:buAutoNum type="arabicPeriod" startAt="2"/>
            </a:pPr>
            <a:endParaRPr lang="en-US" altLang="ko-KR" sz="1800" dirty="0"/>
          </a:p>
          <a:p>
            <a:pPr marL="514350" indent="-514350">
              <a:buFont typeface="+mj-lt"/>
              <a:buAutoNum type="arabicPeriod" startAt="2"/>
            </a:pPr>
            <a:endParaRPr lang="en-US" altLang="ko-KR" sz="1800" dirty="0"/>
          </a:p>
          <a:p>
            <a:pPr marL="514350" indent="-514350">
              <a:buFont typeface="+mj-lt"/>
              <a:buAutoNum type="arabicPeriod" startAt="2"/>
            </a:pPr>
            <a:endParaRPr lang="en-US" altLang="ko-KR" sz="1800" dirty="0"/>
          </a:p>
          <a:p>
            <a:pPr marL="514350" indent="-514350">
              <a:buFont typeface="+mj-lt"/>
              <a:buAutoNum type="arabicPeriod" startAt="2"/>
            </a:pPr>
            <a:endParaRPr lang="en-US" altLang="ko-KR" sz="1800" dirty="0"/>
          </a:p>
          <a:p>
            <a:pPr marL="514350" indent="-514350">
              <a:buFont typeface="+mj-lt"/>
              <a:buAutoNum type="arabicPeriod" startAt="2"/>
            </a:pPr>
            <a:endParaRPr lang="en-US" altLang="ko-KR" sz="1800" dirty="0"/>
          </a:p>
          <a:p>
            <a:pPr marL="514350" indent="-514350">
              <a:buFont typeface="+mj-lt"/>
              <a:buAutoNum type="arabicPeriod" startAt="2"/>
            </a:pPr>
            <a:endParaRPr lang="en-US" altLang="ko-KR" sz="1800" dirty="0"/>
          </a:p>
          <a:p>
            <a:pPr marL="514350" indent="-514350">
              <a:buFont typeface="+mj-lt"/>
              <a:buAutoNum type="arabicPeriod" startAt="2"/>
            </a:pPr>
            <a:r>
              <a:rPr lang="en-US" altLang="ko-KR" dirty="0" err="1"/>
              <a:t>ChromeDriver</a:t>
            </a:r>
            <a:r>
              <a:rPr lang="ko-KR" altLang="en-US" dirty="0"/>
              <a:t>에게 </a:t>
            </a:r>
            <a:r>
              <a:rPr lang="en-US" altLang="ko-KR" dirty="0"/>
              <a:t>selector</a:t>
            </a:r>
            <a:r>
              <a:rPr lang="ko-KR" altLang="en-US" dirty="0"/>
              <a:t> 값을 기반으로 인스타그램 </a:t>
            </a:r>
            <a:r>
              <a:rPr lang="en-US" altLang="ko-KR" dirty="0"/>
              <a:t>ID</a:t>
            </a:r>
            <a:r>
              <a:rPr lang="ko-KR" altLang="en-US" dirty="0" err="1"/>
              <a:t>를</a:t>
            </a:r>
            <a:r>
              <a:rPr lang="ko-KR" altLang="en-US" dirty="0"/>
              <a:t> 전달</a:t>
            </a:r>
            <a:br>
              <a:rPr lang="en-US" altLang="ko-KR" dirty="0"/>
            </a:br>
            <a:r>
              <a:rPr lang="en-US" altLang="ko-KR" dirty="0"/>
              <a:t>(Password</a:t>
            </a:r>
            <a:r>
              <a:rPr lang="ko-KR" altLang="en-US" dirty="0"/>
              <a:t>도 동일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87BE4-C4B1-D040-6A30-6FFB02A7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44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2EBDC-ABB4-C864-5DE4-093713663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90" y="1060381"/>
            <a:ext cx="4878879" cy="2803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B5D988-BB6C-C933-623C-0DEEACCFF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57" y="5350968"/>
            <a:ext cx="10067014" cy="122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9726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D65E4-8898-9FFA-E42E-6260A5DFC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02" y="588397"/>
            <a:ext cx="10733598" cy="5588566"/>
          </a:xfrm>
        </p:spPr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ko-KR" altLang="en-US" dirty="0"/>
              <a:t>로그인 </a:t>
            </a:r>
            <a:r>
              <a:rPr lang="en-US" altLang="ko-KR" dirty="0"/>
              <a:t>(</a:t>
            </a:r>
            <a:r>
              <a:rPr lang="ko-KR" altLang="en-US" dirty="0"/>
              <a:t>로그인 버튼 클릭</a:t>
            </a:r>
            <a:r>
              <a:rPr lang="en-US" altLang="ko-KR" dirty="0"/>
              <a:t>)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AB649-2D70-37FD-25FB-D45CD669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45</a:t>
            </a:fld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E006E-E317-497E-2174-57C871B44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69849"/>
            <a:ext cx="10782912" cy="114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3858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D68FA-04C0-8246-9B8A-E5BD5BC55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8756"/>
            <a:ext cx="10515600" cy="21547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KR" sz="6600" dirty="0"/>
              <a:t>Thank you</a:t>
            </a:r>
          </a:p>
          <a:p>
            <a:pPr marL="0" indent="0" algn="ctr">
              <a:buNone/>
            </a:pPr>
            <a:r>
              <a:rPr lang="en-KR" sz="6600" dirty="0"/>
              <a:t>Q &amp; 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C3A42-6273-118B-5F70-0E27F38C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C747-07F2-F14C-9644-ADAAFDE9D26F}" type="slidenum">
              <a:rPr lang="en-KR" smtClean="0"/>
              <a:t>46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81423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2175</TotalTime>
  <Words>1268</Words>
  <Application>Microsoft Macintosh PowerPoint</Application>
  <PresentationFormat>Widescreen</PresentationFormat>
  <Paragraphs>248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Söhne</vt:lpstr>
      <vt:lpstr>Aptos</vt:lpstr>
      <vt:lpstr>Aptos Display</vt:lpstr>
      <vt:lpstr>Arial</vt:lpstr>
      <vt:lpstr>Roboto</vt:lpstr>
      <vt:lpstr>Office Theme</vt:lpstr>
      <vt:lpstr>데이터과학개론 5주차 - 데이터 수집 2 - </vt:lpstr>
      <vt:lpstr>Contents</vt:lpstr>
      <vt:lpstr>데이터 수집 전 확인 및 주의사항</vt:lpstr>
      <vt:lpstr>1. Robots.txt 파일 확인</vt:lpstr>
      <vt:lpstr>Robots.txt 파일 확인</vt:lpstr>
      <vt:lpstr>PowerPoint Presentation</vt:lpstr>
      <vt:lpstr>2. 사이트 이용 약관 확인하기</vt:lpstr>
      <vt:lpstr>PowerPoint Presentation</vt:lpstr>
      <vt:lpstr>3. 저작권 및 개인정보 보호</vt:lpstr>
      <vt:lpstr>수집 된 데이터 허가 없이 상업적 용도로 사용 X</vt:lpstr>
      <vt:lpstr>4. 웹사이트에 부하 주지 않기</vt:lpstr>
      <vt:lpstr>정적(Static) vs 동적(Dynamic) 사이트</vt:lpstr>
      <vt:lpstr>정적 vs 동적 크롤링</vt:lpstr>
      <vt:lpstr>정적 크롤링 가능한 사이트 확인 방법</vt:lpstr>
      <vt:lpstr>PowerPoint Presentation</vt:lpstr>
      <vt:lpstr>정적 크롤링</vt:lpstr>
      <vt:lpstr>Web Crawling 절차</vt:lpstr>
      <vt:lpstr>1. 데이터 수집 사이트 설정 및 URL 설정</vt:lpstr>
      <vt:lpstr>Hollys 커피 매장 정보 </vt:lpstr>
      <vt:lpstr>PowerPoint Presentation</vt:lpstr>
      <vt:lpstr>2~3. 데이터 요청 및 수신 </vt:lpstr>
      <vt:lpstr>데이터 요청 및 수신</vt:lpstr>
      <vt:lpstr>웹페이지 요청 Package - Requests</vt:lpstr>
      <vt:lpstr>4. 콘텐츠(구문) 분석</vt:lpstr>
      <vt:lpstr>구문 분석 Package - BeautifulSoup</vt:lpstr>
      <vt:lpstr>HTML 문서 구조 예시</vt:lpstr>
      <vt:lpstr>5. 정보 추출 및 저장</vt:lpstr>
      <vt:lpstr>필요한 정보 추출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Question. Hollys 매장 정보를 1페이지부터 10페이지까지, 각 매장의 주소, 전화번호를 수집  </vt:lpstr>
      <vt:lpstr>동적 크롤링</vt:lpstr>
      <vt:lpstr>동적 크롤링 Package - Selenium </vt:lpstr>
      <vt:lpstr>Selenium, ChromeDriver 설치 및 실행</vt:lpstr>
      <vt:lpstr>PowerPoint Presentation</vt:lpstr>
      <vt:lpstr>1. 데이터 수집 사이트 설정 및 URL 설정</vt:lpstr>
      <vt:lpstr>인스타그램</vt:lpstr>
      <vt:lpstr>URL 설정</vt:lpstr>
      <vt:lpstr>인스타그램 로그인</vt:lpstr>
      <vt:lpstr>로그인 정보 입력하기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SEUNGHUN LEE</dc:creator>
  <cp:lastModifiedBy>SEUNGHUN LEE</cp:lastModifiedBy>
  <cp:revision>506</cp:revision>
  <dcterms:created xsi:type="dcterms:W3CDTF">2024-02-20T05:47:46Z</dcterms:created>
  <dcterms:modified xsi:type="dcterms:W3CDTF">2025-04-03T02:00:55Z</dcterms:modified>
</cp:coreProperties>
</file>